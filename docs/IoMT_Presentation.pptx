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74" r:id="rId5"/>
    <p:sldId id="276" r:id="rId6"/>
    <p:sldId id="261" r:id="rId7"/>
    <p:sldId id="262" r:id="rId8"/>
    <p:sldId id="263" r:id="rId9"/>
    <p:sldId id="267" r:id="rId10"/>
    <p:sldId id="277" r:id="rId11"/>
    <p:sldId id="281" r:id="rId12"/>
    <p:sldId id="280" r:id="rId13"/>
    <p:sldId id="270" r:id="rId14"/>
    <p:sldId id="268" r:id="rId15"/>
  </p:sldIdLst>
  <p:sldSz cx="12192000" cy="6858000"/>
  <p:notesSz cx="6858000" cy="9144000"/>
  <p:embeddedFontLst>
    <p:embeddedFont>
      <p:font typeface="Arial Black" panose="020B0A04020102020204" pitchFamily="34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g25hxemT1rz/Mgl1l8ywcOhAa8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E2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49" autoAdjust="0"/>
    <p:restoredTop sz="94660"/>
  </p:normalViewPr>
  <p:slideViewPr>
    <p:cSldViewPr snapToGrid="0">
      <p:cViewPr>
        <p:scale>
          <a:sx n="66" d="100"/>
          <a:sy n="66" d="100"/>
        </p:scale>
        <p:origin x="1041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g"/><Relationship Id="rId1" Type="http://schemas.openxmlformats.org/officeDocument/2006/relationships/image" Target="../media/image4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g"/><Relationship Id="rId1" Type="http://schemas.openxmlformats.org/officeDocument/2006/relationships/image" Target="../media/image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1695BF7-19A0-4DF7-9C09-A5FF8F99B3BA}" type="doc">
      <dgm:prSet loTypeId="urn:microsoft.com/office/officeart/2005/8/layout/p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10B42D3-F26C-4F33-A2CE-2927EB8D8FFC}">
      <dgm:prSet phldrT="[Text]" phldr="0" custT="1"/>
      <dgm:spPr>
        <a:solidFill>
          <a:srgbClr val="002060"/>
        </a:solidFill>
      </dgm:spPr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sz="1600" b="1" u="sng" dirty="0"/>
            <a:t>AD8232 ECG</a:t>
          </a:r>
        </a:p>
        <a:p>
          <a:pPr algn="l">
            <a:buFont typeface="Arial" panose="020B0604020202020204" pitchFamily="34" charset="0"/>
            <a:buChar char="•"/>
          </a:pPr>
          <a:r>
            <a:rPr lang="en-US" sz="1600" b="1" u="none" dirty="0"/>
            <a:t>Purpose: </a:t>
          </a:r>
          <a:r>
            <a:rPr lang="en-US" sz="1600" u="none" dirty="0"/>
            <a:t>Measures</a:t>
          </a:r>
          <a:r>
            <a:rPr lang="en-US" sz="1600" dirty="0"/>
            <a:t> electrical activity to analyze heart rhythm and detect arrhythmias.</a:t>
          </a:r>
        </a:p>
        <a:p>
          <a:pPr algn="l">
            <a:buFont typeface="Arial" panose="020B0604020202020204" pitchFamily="34" charset="0"/>
            <a:buChar char="•"/>
          </a:pPr>
          <a:r>
            <a:rPr lang="en-US" sz="1600" b="1" u="none" dirty="0"/>
            <a:t>Specs: </a:t>
          </a:r>
          <a:r>
            <a:rPr lang="en-US" sz="1600" dirty="0"/>
            <a:t>Low-power, compact, and wearable design.</a:t>
          </a:r>
        </a:p>
        <a:p>
          <a:pPr algn="l">
            <a:buFont typeface="Arial" panose="020B0604020202020204" pitchFamily="34" charset="0"/>
            <a:buChar char="•"/>
          </a:pPr>
          <a:r>
            <a:rPr lang="en-US" sz="1600" b="1" u="none" dirty="0"/>
            <a:t>Output:</a:t>
          </a:r>
          <a:r>
            <a:rPr lang="en-US" sz="1600" u="none" dirty="0"/>
            <a:t> </a:t>
          </a:r>
          <a:r>
            <a:rPr lang="en-US" sz="1600" dirty="0"/>
            <a:t>Uses 3 electrodes to output high frequency analog ECG waveform</a:t>
          </a:r>
          <a:endParaRPr lang="en-IN" sz="1600" dirty="0"/>
        </a:p>
      </dgm:t>
    </dgm:pt>
    <dgm:pt modelId="{6E5905B6-FD6B-4592-A30A-3E2467FC3EBC}" type="parTrans" cxnId="{78B8797F-D791-481C-954D-C1656CA9417C}">
      <dgm:prSet/>
      <dgm:spPr/>
      <dgm:t>
        <a:bodyPr/>
        <a:lstStyle/>
        <a:p>
          <a:endParaRPr lang="en-IN"/>
        </a:p>
      </dgm:t>
    </dgm:pt>
    <dgm:pt modelId="{DD72696E-E04E-4598-B809-3B0206EAC0EE}" type="sibTrans" cxnId="{78B8797F-D791-481C-954D-C1656CA9417C}">
      <dgm:prSet/>
      <dgm:spPr/>
      <dgm:t>
        <a:bodyPr/>
        <a:lstStyle/>
        <a:p>
          <a:endParaRPr lang="en-IN"/>
        </a:p>
      </dgm:t>
    </dgm:pt>
    <dgm:pt modelId="{A93ECA5B-3751-40ED-90EE-61A92018B0AF}">
      <dgm:prSet phldrT="[Text]" custT="1"/>
      <dgm:spPr>
        <a:solidFill>
          <a:srgbClr val="0070C0"/>
        </a:solidFill>
      </dgm:spPr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IN" sz="1600" b="1" u="sng" dirty="0"/>
            <a:t>ESP32CAM</a:t>
          </a:r>
        </a:p>
        <a:p>
          <a:pPr algn="l">
            <a:buFont typeface="Arial" panose="020B0604020202020204" pitchFamily="34" charset="0"/>
            <a:buChar char="•"/>
          </a:pPr>
          <a:r>
            <a:rPr lang="en-US" sz="1600" b="1" dirty="0"/>
            <a:t>Purpose:</a:t>
          </a:r>
          <a:r>
            <a:rPr lang="en-US" sz="1600" dirty="0"/>
            <a:t> Captures real-time video to classify hand gestures for patient communication.</a:t>
          </a:r>
        </a:p>
        <a:p>
          <a:pPr algn="l">
            <a:buFont typeface="Arial" panose="020B0604020202020204" pitchFamily="34" charset="0"/>
            <a:buChar char="•"/>
          </a:pPr>
          <a:r>
            <a:rPr lang="en-US" sz="1600" b="1" dirty="0"/>
            <a:t>Specs:</a:t>
          </a:r>
          <a:r>
            <a:rPr lang="en-US" sz="1600" dirty="0"/>
            <a:t> Integrated Camera + Wi-Fi module for edge inference; easily mountable.</a:t>
          </a:r>
        </a:p>
        <a:p>
          <a:pPr algn="l">
            <a:buFont typeface="Arial" panose="020B0604020202020204" pitchFamily="34" charset="0"/>
            <a:buChar char="•"/>
          </a:pPr>
          <a:r>
            <a:rPr lang="en-US" sz="1600" b="1" dirty="0"/>
            <a:t>Output: </a:t>
          </a:r>
          <a:r>
            <a:rPr lang="en-US" sz="1600" dirty="0"/>
            <a:t>gesture ‘</a:t>
          </a:r>
          <a:r>
            <a:rPr lang="en-US" sz="1600" dirty="0" err="1"/>
            <a:t>class’</a:t>
          </a:r>
          <a:r>
            <a:rPr lang="en-US" sz="1600" dirty="0"/>
            <a:t> labels for monitoring &amp; alerting</a:t>
          </a:r>
          <a:endParaRPr lang="en-IN" sz="1600" dirty="0"/>
        </a:p>
      </dgm:t>
    </dgm:pt>
    <dgm:pt modelId="{2661F102-280A-4F85-9FCF-6ED144CE876D}" type="parTrans" cxnId="{C714B780-4162-41CC-AA99-F55787FA9061}">
      <dgm:prSet/>
      <dgm:spPr/>
      <dgm:t>
        <a:bodyPr/>
        <a:lstStyle/>
        <a:p>
          <a:endParaRPr lang="en-IN"/>
        </a:p>
      </dgm:t>
    </dgm:pt>
    <dgm:pt modelId="{9A4965BE-04F0-4507-B64D-C6FCD0DC5E7D}" type="sibTrans" cxnId="{C714B780-4162-41CC-AA99-F55787FA9061}">
      <dgm:prSet/>
      <dgm:spPr/>
      <dgm:t>
        <a:bodyPr/>
        <a:lstStyle/>
        <a:p>
          <a:endParaRPr lang="en-IN"/>
        </a:p>
      </dgm:t>
    </dgm:pt>
    <dgm:pt modelId="{92DD3B73-3C88-48E6-A930-78C4EE6CEDAC}">
      <dgm:prSet phldrT="[Text]" custT="1"/>
      <dgm:spPr>
        <a:solidFill>
          <a:srgbClr val="00B0F0"/>
        </a:solidFill>
      </dgm:spPr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IN" sz="1600" b="1" u="sng" dirty="0"/>
            <a:t>MPU6050</a:t>
          </a:r>
        </a:p>
        <a:p>
          <a:pPr algn="l">
            <a:buFont typeface="Arial" panose="020B0604020202020204" pitchFamily="34" charset="0"/>
            <a:buChar char="•"/>
          </a:pPr>
          <a:r>
            <a:rPr lang="en-US" sz="1600" b="1" dirty="0"/>
            <a:t>Purpose:</a:t>
          </a:r>
          <a:r>
            <a:rPr lang="en-US" sz="1600" dirty="0"/>
            <a:t> Monitors orientation and acceleration to detect falls or sudden posture changes.</a:t>
          </a:r>
        </a:p>
        <a:p>
          <a:pPr algn="l">
            <a:buFont typeface="Arial" panose="020B0604020202020204" pitchFamily="34" charset="0"/>
            <a:buChar char="•"/>
          </a:pPr>
          <a:r>
            <a:rPr lang="en-US" sz="1600" b="1" dirty="0"/>
            <a:t>Specs:</a:t>
          </a:r>
          <a:r>
            <a:rPr lang="en-US" sz="1600" dirty="0"/>
            <a:t> 6-axis motion tracking (Accelerometer + Gyroscope) in a single chip.</a:t>
          </a:r>
        </a:p>
        <a:p>
          <a:pPr algn="l">
            <a:buFont typeface="Arial" panose="020B0604020202020204" pitchFamily="34" charset="0"/>
            <a:buChar char="•"/>
          </a:pPr>
          <a:r>
            <a:rPr lang="en-US" sz="1600" b="1" dirty="0"/>
            <a:t>Output: </a:t>
          </a:r>
          <a:r>
            <a:rPr lang="en-US" sz="1600" b="0" dirty="0"/>
            <a:t>uses parameters to detect falls</a:t>
          </a:r>
          <a:endParaRPr lang="en-IN" sz="1600" dirty="0"/>
        </a:p>
      </dgm:t>
    </dgm:pt>
    <dgm:pt modelId="{0289D224-6BEE-4713-851D-D969B9ABBE87}" type="parTrans" cxnId="{72643BA0-E4CE-4DDB-A1BC-753E1EBC4D7B}">
      <dgm:prSet/>
      <dgm:spPr/>
      <dgm:t>
        <a:bodyPr/>
        <a:lstStyle/>
        <a:p>
          <a:endParaRPr lang="en-IN"/>
        </a:p>
      </dgm:t>
    </dgm:pt>
    <dgm:pt modelId="{658ABF7E-91C0-4B29-A607-D3934FA02D7E}" type="sibTrans" cxnId="{72643BA0-E4CE-4DDB-A1BC-753E1EBC4D7B}">
      <dgm:prSet/>
      <dgm:spPr/>
      <dgm:t>
        <a:bodyPr/>
        <a:lstStyle/>
        <a:p>
          <a:endParaRPr lang="en-IN"/>
        </a:p>
      </dgm:t>
    </dgm:pt>
    <dgm:pt modelId="{EE66F107-F3DA-40EB-AC59-CC8213CF8687}" type="pres">
      <dgm:prSet presAssocID="{21695BF7-19A0-4DF7-9C09-A5FF8F99B3BA}" presName="Name0" presStyleCnt="0">
        <dgm:presLayoutVars>
          <dgm:dir/>
          <dgm:resizeHandles val="exact"/>
        </dgm:presLayoutVars>
      </dgm:prSet>
      <dgm:spPr/>
    </dgm:pt>
    <dgm:pt modelId="{24EBE8A7-C230-4EAD-88AF-FE8106F26061}" type="pres">
      <dgm:prSet presAssocID="{21695BF7-19A0-4DF7-9C09-A5FF8F99B3BA}" presName="bkgdShp" presStyleLbl="alignAccFollowNode1" presStyleIdx="0" presStyleCnt="1"/>
      <dgm:spPr>
        <a:solidFill>
          <a:schemeClr val="tx2">
            <a:alpha val="89804"/>
          </a:schemeClr>
        </a:solidFill>
      </dgm:spPr>
    </dgm:pt>
    <dgm:pt modelId="{DB937F51-77F8-445A-B163-E24BDAC6AD9E}" type="pres">
      <dgm:prSet presAssocID="{21695BF7-19A0-4DF7-9C09-A5FF8F99B3BA}" presName="linComp" presStyleCnt="0"/>
      <dgm:spPr/>
    </dgm:pt>
    <dgm:pt modelId="{A2108380-274B-4671-AFAE-79EB1B0AC9C2}" type="pres">
      <dgm:prSet presAssocID="{E10B42D3-F26C-4F33-A2CE-2927EB8D8FFC}" presName="compNode" presStyleCnt="0"/>
      <dgm:spPr/>
    </dgm:pt>
    <dgm:pt modelId="{A7108D1E-6CA1-4D09-AAE2-94FFB05729A9}" type="pres">
      <dgm:prSet presAssocID="{E10B42D3-F26C-4F33-A2CE-2927EB8D8FFC}" presName="node" presStyleLbl="node1" presStyleIdx="0" presStyleCnt="3">
        <dgm:presLayoutVars>
          <dgm:bulletEnabled val="1"/>
        </dgm:presLayoutVars>
      </dgm:prSet>
      <dgm:spPr/>
    </dgm:pt>
    <dgm:pt modelId="{21DA9088-451D-4C84-B6BE-D051B6A25827}" type="pres">
      <dgm:prSet presAssocID="{E10B42D3-F26C-4F33-A2CE-2927EB8D8FFC}" presName="invisiNode" presStyleLbl="node1" presStyleIdx="0" presStyleCnt="3"/>
      <dgm:spPr/>
    </dgm:pt>
    <dgm:pt modelId="{D73879EE-EDC4-4482-A351-B25AEDD45E97}" type="pres">
      <dgm:prSet presAssocID="{E10B42D3-F26C-4F33-A2CE-2927EB8D8FFC}" presName="imagNode" presStyleLbl="fgImgPlace1" presStyleIdx="0" presStyleCnt="3"/>
      <dgm:spPr>
        <a:blipFill dpi="0" rotWithShape="1">
          <a:blip xmlns:r="http://schemas.openxmlformats.org/officeDocument/2006/relationships" r:embed="rId1"/>
          <a:srcRect/>
          <a:stretch>
            <a:fillRect l="-22374" t="-18451" r="-22374" b="-18451"/>
          </a:stretch>
        </a:blipFill>
      </dgm:spPr>
    </dgm:pt>
    <dgm:pt modelId="{26272734-5662-4B75-B76E-F2FAAE5BCFDA}" type="pres">
      <dgm:prSet presAssocID="{DD72696E-E04E-4598-B809-3B0206EAC0EE}" presName="sibTrans" presStyleLbl="sibTrans2D1" presStyleIdx="0" presStyleCnt="0"/>
      <dgm:spPr/>
    </dgm:pt>
    <dgm:pt modelId="{D2333759-46D4-4DA1-90DF-19D0EDA6107D}" type="pres">
      <dgm:prSet presAssocID="{A93ECA5B-3751-40ED-90EE-61A92018B0AF}" presName="compNode" presStyleCnt="0"/>
      <dgm:spPr/>
    </dgm:pt>
    <dgm:pt modelId="{589A9BFD-9B3F-435C-A496-C250D5E2A32A}" type="pres">
      <dgm:prSet presAssocID="{A93ECA5B-3751-40ED-90EE-61A92018B0AF}" presName="node" presStyleLbl="node1" presStyleIdx="1" presStyleCnt="3">
        <dgm:presLayoutVars>
          <dgm:bulletEnabled val="1"/>
        </dgm:presLayoutVars>
      </dgm:prSet>
      <dgm:spPr/>
    </dgm:pt>
    <dgm:pt modelId="{0410CAF4-95BA-4B24-801F-315428E94522}" type="pres">
      <dgm:prSet presAssocID="{A93ECA5B-3751-40ED-90EE-61A92018B0AF}" presName="invisiNode" presStyleLbl="node1" presStyleIdx="1" presStyleCnt="3"/>
      <dgm:spPr/>
    </dgm:pt>
    <dgm:pt modelId="{A1526451-D326-4024-9E6E-596139B10B3F}" type="pres">
      <dgm:prSet presAssocID="{A93ECA5B-3751-40ED-90EE-61A92018B0AF}" presName="imagNode" presStyleLbl="fgImgPlace1" presStyleIdx="1" presStyleCnt="3"/>
      <dgm:spPr>
        <a:blipFill rotWithShape="1">
          <a:blip xmlns:r="http://schemas.openxmlformats.org/officeDocument/2006/relationships" r:embed="rId2">
            <a:alphaModFix/>
          </a:blip>
          <a:srcRect/>
          <a:stretch>
            <a:fillRect t="-17000" b="-17000"/>
          </a:stretch>
        </a:blipFill>
      </dgm:spPr>
    </dgm:pt>
    <dgm:pt modelId="{8FA44B85-C302-46F2-8F30-73A3E1F7B082}" type="pres">
      <dgm:prSet presAssocID="{9A4965BE-04F0-4507-B64D-C6FCD0DC5E7D}" presName="sibTrans" presStyleLbl="sibTrans2D1" presStyleIdx="0" presStyleCnt="0"/>
      <dgm:spPr/>
    </dgm:pt>
    <dgm:pt modelId="{8C7272CF-7B62-448B-884F-1524BB450733}" type="pres">
      <dgm:prSet presAssocID="{92DD3B73-3C88-48E6-A930-78C4EE6CEDAC}" presName="compNode" presStyleCnt="0"/>
      <dgm:spPr/>
    </dgm:pt>
    <dgm:pt modelId="{FE836A78-3332-4781-BD82-4DAA063C490A}" type="pres">
      <dgm:prSet presAssocID="{92DD3B73-3C88-48E6-A930-78C4EE6CEDAC}" presName="node" presStyleLbl="node1" presStyleIdx="2" presStyleCnt="3">
        <dgm:presLayoutVars>
          <dgm:bulletEnabled val="1"/>
        </dgm:presLayoutVars>
      </dgm:prSet>
      <dgm:spPr/>
    </dgm:pt>
    <dgm:pt modelId="{C4D1B7A8-80AB-48DE-B3B7-ACC7F05B3CBC}" type="pres">
      <dgm:prSet presAssocID="{92DD3B73-3C88-48E6-A930-78C4EE6CEDAC}" presName="invisiNode" presStyleLbl="node1" presStyleIdx="2" presStyleCnt="3"/>
      <dgm:spPr/>
    </dgm:pt>
    <dgm:pt modelId="{A691BCE4-6A58-462E-9195-AC2BDE026A32}" type="pres">
      <dgm:prSet presAssocID="{92DD3B73-3C88-48E6-A930-78C4EE6CEDAC}" presName="imagNode" presStyleLbl="fgImgPlace1" presStyleIdx="2" presStyleCnt="3"/>
      <dgm:spPr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</dgm:spPr>
    </dgm:pt>
  </dgm:ptLst>
  <dgm:cxnLst>
    <dgm:cxn modelId="{488C3516-CDAA-4560-AB65-B0D5AFBF3DB9}" type="presOf" srcId="{E10B42D3-F26C-4F33-A2CE-2927EB8D8FFC}" destId="{A7108D1E-6CA1-4D09-AAE2-94FFB05729A9}" srcOrd="0" destOrd="0" presId="urn:microsoft.com/office/officeart/2005/8/layout/pList2"/>
    <dgm:cxn modelId="{321FDD61-3E1B-4D74-951A-ECA6AD79CFDF}" type="presOf" srcId="{A93ECA5B-3751-40ED-90EE-61A92018B0AF}" destId="{589A9BFD-9B3F-435C-A496-C250D5E2A32A}" srcOrd="0" destOrd="0" presId="urn:microsoft.com/office/officeart/2005/8/layout/pList2"/>
    <dgm:cxn modelId="{78B8797F-D791-481C-954D-C1656CA9417C}" srcId="{21695BF7-19A0-4DF7-9C09-A5FF8F99B3BA}" destId="{E10B42D3-F26C-4F33-A2CE-2927EB8D8FFC}" srcOrd="0" destOrd="0" parTransId="{6E5905B6-FD6B-4592-A30A-3E2467FC3EBC}" sibTransId="{DD72696E-E04E-4598-B809-3B0206EAC0EE}"/>
    <dgm:cxn modelId="{C714B780-4162-41CC-AA99-F55787FA9061}" srcId="{21695BF7-19A0-4DF7-9C09-A5FF8F99B3BA}" destId="{A93ECA5B-3751-40ED-90EE-61A92018B0AF}" srcOrd="1" destOrd="0" parTransId="{2661F102-280A-4F85-9FCF-6ED144CE876D}" sibTransId="{9A4965BE-04F0-4507-B64D-C6FCD0DC5E7D}"/>
    <dgm:cxn modelId="{72643BA0-E4CE-4DDB-A1BC-753E1EBC4D7B}" srcId="{21695BF7-19A0-4DF7-9C09-A5FF8F99B3BA}" destId="{92DD3B73-3C88-48E6-A930-78C4EE6CEDAC}" srcOrd="2" destOrd="0" parTransId="{0289D224-6BEE-4713-851D-D969B9ABBE87}" sibTransId="{658ABF7E-91C0-4B29-A607-D3934FA02D7E}"/>
    <dgm:cxn modelId="{1D7D7DB4-5D3C-4FBF-98EE-0C767B66B817}" type="presOf" srcId="{DD72696E-E04E-4598-B809-3B0206EAC0EE}" destId="{26272734-5662-4B75-B76E-F2FAAE5BCFDA}" srcOrd="0" destOrd="0" presId="urn:microsoft.com/office/officeart/2005/8/layout/pList2"/>
    <dgm:cxn modelId="{4DD06DB7-6C89-4888-A7A9-237D5D8F6C0F}" type="presOf" srcId="{92DD3B73-3C88-48E6-A930-78C4EE6CEDAC}" destId="{FE836A78-3332-4781-BD82-4DAA063C490A}" srcOrd="0" destOrd="0" presId="urn:microsoft.com/office/officeart/2005/8/layout/pList2"/>
    <dgm:cxn modelId="{4605AAE0-EAE6-4A8D-A0B9-CDA6911612CF}" type="presOf" srcId="{21695BF7-19A0-4DF7-9C09-A5FF8F99B3BA}" destId="{EE66F107-F3DA-40EB-AC59-CC8213CF8687}" srcOrd="0" destOrd="0" presId="urn:microsoft.com/office/officeart/2005/8/layout/pList2"/>
    <dgm:cxn modelId="{F410CAF1-5797-4B06-839C-2DEBE755E3CF}" type="presOf" srcId="{9A4965BE-04F0-4507-B64D-C6FCD0DC5E7D}" destId="{8FA44B85-C302-46F2-8F30-73A3E1F7B082}" srcOrd="0" destOrd="0" presId="urn:microsoft.com/office/officeart/2005/8/layout/pList2"/>
    <dgm:cxn modelId="{7616635C-AA08-49FB-AEC1-E21243328255}" type="presParOf" srcId="{EE66F107-F3DA-40EB-AC59-CC8213CF8687}" destId="{24EBE8A7-C230-4EAD-88AF-FE8106F26061}" srcOrd="0" destOrd="0" presId="urn:microsoft.com/office/officeart/2005/8/layout/pList2"/>
    <dgm:cxn modelId="{552CA975-FE42-4E15-8ADA-787F51A639D9}" type="presParOf" srcId="{EE66F107-F3DA-40EB-AC59-CC8213CF8687}" destId="{DB937F51-77F8-445A-B163-E24BDAC6AD9E}" srcOrd="1" destOrd="0" presId="urn:microsoft.com/office/officeart/2005/8/layout/pList2"/>
    <dgm:cxn modelId="{A73E3C53-D0C5-405E-B8A3-D1100827858F}" type="presParOf" srcId="{DB937F51-77F8-445A-B163-E24BDAC6AD9E}" destId="{A2108380-274B-4671-AFAE-79EB1B0AC9C2}" srcOrd="0" destOrd="0" presId="urn:microsoft.com/office/officeart/2005/8/layout/pList2"/>
    <dgm:cxn modelId="{184073EA-774D-4951-B9B4-56667EB5EA92}" type="presParOf" srcId="{A2108380-274B-4671-AFAE-79EB1B0AC9C2}" destId="{A7108D1E-6CA1-4D09-AAE2-94FFB05729A9}" srcOrd="0" destOrd="0" presId="urn:microsoft.com/office/officeart/2005/8/layout/pList2"/>
    <dgm:cxn modelId="{1B8C1298-BB17-4537-A908-3EB837D73900}" type="presParOf" srcId="{A2108380-274B-4671-AFAE-79EB1B0AC9C2}" destId="{21DA9088-451D-4C84-B6BE-D051B6A25827}" srcOrd="1" destOrd="0" presId="urn:microsoft.com/office/officeart/2005/8/layout/pList2"/>
    <dgm:cxn modelId="{16FE2C57-7840-4262-93B2-C2F7897D63EE}" type="presParOf" srcId="{A2108380-274B-4671-AFAE-79EB1B0AC9C2}" destId="{D73879EE-EDC4-4482-A351-B25AEDD45E97}" srcOrd="2" destOrd="0" presId="urn:microsoft.com/office/officeart/2005/8/layout/pList2"/>
    <dgm:cxn modelId="{250E1E25-629B-47E2-855A-BC8D15F334D0}" type="presParOf" srcId="{DB937F51-77F8-445A-B163-E24BDAC6AD9E}" destId="{26272734-5662-4B75-B76E-F2FAAE5BCFDA}" srcOrd="1" destOrd="0" presId="urn:microsoft.com/office/officeart/2005/8/layout/pList2"/>
    <dgm:cxn modelId="{159C8305-9E66-4266-98DD-D206EED75559}" type="presParOf" srcId="{DB937F51-77F8-445A-B163-E24BDAC6AD9E}" destId="{D2333759-46D4-4DA1-90DF-19D0EDA6107D}" srcOrd="2" destOrd="0" presId="urn:microsoft.com/office/officeart/2005/8/layout/pList2"/>
    <dgm:cxn modelId="{64077F70-CDC2-4782-810B-905DDFCDB24D}" type="presParOf" srcId="{D2333759-46D4-4DA1-90DF-19D0EDA6107D}" destId="{589A9BFD-9B3F-435C-A496-C250D5E2A32A}" srcOrd="0" destOrd="0" presId="urn:microsoft.com/office/officeart/2005/8/layout/pList2"/>
    <dgm:cxn modelId="{5A957A99-11A0-49B7-A9F2-242E2C6639C8}" type="presParOf" srcId="{D2333759-46D4-4DA1-90DF-19D0EDA6107D}" destId="{0410CAF4-95BA-4B24-801F-315428E94522}" srcOrd="1" destOrd="0" presId="urn:microsoft.com/office/officeart/2005/8/layout/pList2"/>
    <dgm:cxn modelId="{18055CDB-5298-4D06-BC0A-8DC1E4C121FA}" type="presParOf" srcId="{D2333759-46D4-4DA1-90DF-19D0EDA6107D}" destId="{A1526451-D326-4024-9E6E-596139B10B3F}" srcOrd="2" destOrd="0" presId="urn:microsoft.com/office/officeart/2005/8/layout/pList2"/>
    <dgm:cxn modelId="{2ADEB9D0-2A18-4711-9169-30FD42D65129}" type="presParOf" srcId="{DB937F51-77F8-445A-B163-E24BDAC6AD9E}" destId="{8FA44B85-C302-46F2-8F30-73A3E1F7B082}" srcOrd="3" destOrd="0" presId="urn:microsoft.com/office/officeart/2005/8/layout/pList2"/>
    <dgm:cxn modelId="{AD913418-9A86-4D67-A2E4-BD404D036FBB}" type="presParOf" srcId="{DB937F51-77F8-445A-B163-E24BDAC6AD9E}" destId="{8C7272CF-7B62-448B-884F-1524BB450733}" srcOrd="4" destOrd="0" presId="urn:microsoft.com/office/officeart/2005/8/layout/pList2"/>
    <dgm:cxn modelId="{D492CAD7-AA16-4640-BCDF-E7EA5D5D6E8C}" type="presParOf" srcId="{8C7272CF-7B62-448B-884F-1524BB450733}" destId="{FE836A78-3332-4781-BD82-4DAA063C490A}" srcOrd="0" destOrd="0" presId="urn:microsoft.com/office/officeart/2005/8/layout/pList2"/>
    <dgm:cxn modelId="{52A6F311-5068-44CC-967C-1011C5A89BDB}" type="presParOf" srcId="{8C7272CF-7B62-448B-884F-1524BB450733}" destId="{C4D1B7A8-80AB-48DE-B3B7-ACC7F05B3CBC}" srcOrd="1" destOrd="0" presId="urn:microsoft.com/office/officeart/2005/8/layout/pList2"/>
    <dgm:cxn modelId="{2A328487-2126-4C4A-8869-671F070EA767}" type="presParOf" srcId="{8C7272CF-7B62-448B-884F-1524BB450733}" destId="{A691BCE4-6A58-462E-9195-AC2BDE026A32}" srcOrd="2" destOrd="0" presId="urn:microsoft.com/office/officeart/2005/8/layout/p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999068D-A0E6-4865-A159-EFBB32CFD890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88C3F45-275C-439A-A43C-6B563814EEF9}">
      <dgm:prSet phldrT="[Text]" custT="1"/>
      <dgm:spPr>
        <a:solidFill>
          <a:srgbClr val="C00000"/>
        </a:solidFill>
      </dgm:spPr>
      <dgm:t>
        <a:bodyPr/>
        <a:lstStyle/>
        <a:p>
          <a:r>
            <a:rPr lang="en-IN" sz="1600" dirty="0"/>
            <a:t>Sensors</a:t>
          </a:r>
          <a:endParaRPr lang="en-IN" sz="1800" dirty="0"/>
        </a:p>
      </dgm:t>
    </dgm:pt>
    <dgm:pt modelId="{5BA5EC63-5F93-4757-9E14-83073B4F29A2}" type="parTrans" cxnId="{9A7D3E4F-2EC0-4873-827E-5176A461183B}">
      <dgm:prSet/>
      <dgm:spPr/>
      <dgm:t>
        <a:bodyPr/>
        <a:lstStyle/>
        <a:p>
          <a:endParaRPr lang="en-IN"/>
        </a:p>
      </dgm:t>
    </dgm:pt>
    <dgm:pt modelId="{CAB6D362-807C-40AD-9BFD-1CE3CCF950D9}" type="sibTrans" cxnId="{9A7D3E4F-2EC0-4873-827E-5176A461183B}">
      <dgm:prSet/>
      <dgm:spPr/>
      <dgm:t>
        <a:bodyPr/>
        <a:lstStyle/>
        <a:p>
          <a:endParaRPr lang="en-IN"/>
        </a:p>
      </dgm:t>
    </dgm:pt>
    <dgm:pt modelId="{33313CE2-0466-478C-A8B2-725C78DDD901}">
      <dgm:prSet phldrT="[Text]" phldr="0"/>
      <dgm:spPr>
        <a:solidFill>
          <a:srgbClr val="FF0000"/>
        </a:solidFill>
      </dgm:spPr>
      <dgm:t>
        <a:bodyPr/>
        <a:lstStyle/>
        <a:p>
          <a:r>
            <a:rPr lang="en-IN" dirty="0"/>
            <a:t>MQTT server</a:t>
          </a:r>
        </a:p>
      </dgm:t>
    </dgm:pt>
    <dgm:pt modelId="{5E8F8024-479A-4018-99FD-C0D793C67279}" type="parTrans" cxnId="{69C7C6E6-27EB-4D46-A3DC-A8E2223E7AD9}">
      <dgm:prSet/>
      <dgm:spPr/>
      <dgm:t>
        <a:bodyPr/>
        <a:lstStyle/>
        <a:p>
          <a:endParaRPr lang="en-IN"/>
        </a:p>
      </dgm:t>
    </dgm:pt>
    <dgm:pt modelId="{01CF8759-F6E9-4912-87CD-8AEC3340A852}" type="sibTrans" cxnId="{69C7C6E6-27EB-4D46-A3DC-A8E2223E7AD9}">
      <dgm:prSet/>
      <dgm:spPr/>
      <dgm:t>
        <a:bodyPr/>
        <a:lstStyle/>
        <a:p>
          <a:endParaRPr lang="en-IN"/>
        </a:p>
      </dgm:t>
    </dgm:pt>
    <dgm:pt modelId="{552A3E54-E7D3-4BC9-9367-7662E9EAAFFE}">
      <dgm:prSet/>
      <dgm:spPr>
        <a:solidFill>
          <a:srgbClr val="FF0000"/>
        </a:solidFill>
      </dgm:spPr>
      <dgm:t>
        <a:bodyPr/>
        <a:lstStyle/>
        <a:p>
          <a:r>
            <a:rPr lang="en-IN" dirty="0"/>
            <a:t>AI model</a:t>
          </a:r>
        </a:p>
      </dgm:t>
    </dgm:pt>
    <dgm:pt modelId="{1D76CADB-601A-418E-BAEA-CE9D36F54A48}" type="parTrans" cxnId="{8719741B-C23B-49FC-A900-FEE1CD5118D6}">
      <dgm:prSet/>
      <dgm:spPr/>
      <dgm:t>
        <a:bodyPr/>
        <a:lstStyle/>
        <a:p>
          <a:endParaRPr lang="en-IN"/>
        </a:p>
      </dgm:t>
    </dgm:pt>
    <dgm:pt modelId="{EA741C48-9597-4579-8DD5-B5A7961F8D9C}" type="sibTrans" cxnId="{8719741B-C23B-49FC-A900-FEE1CD5118D6}">
      <dgm:prSet/>
      <dgm:spPr/>
      <dgm:t>
        <a:bodyPr/>
        <a:lstStyle/>
        <a:p>
          <a:endParaRPr lang="en-IN"/>
        </a:p>
      </dgm:t>
    </dgm:pt>
    <dgm:pt modelId="{9F5D5CD5-3535-49FA-B345-9234C666F354}">
      <dgm:prSet/>
      <dgm:spPr>
        <a:solidFill>
          <a:srgbClr val="C00000"/>
        </a:solidFill>
      </dgm:spPr>
      <dgm:t>
        <a:bodyPr/>
        <a:lstStyle/>
        <a:p>
          <a:r>
            <a:rPr lang="en-IN" dirty="0"/>
            <a:t>Broker</a:t>
          </a:r>
        </a:p>
      </dgm:t>
    </dgm:pt>
    <dgm:pt modelId="{44C61B46-8E6F-460B-9D90-358D5B6945EC}" type="parTrans" cxnId="{EA8B351B-EA2E-4322-AD1E-B0A0B0FD506C}">
      <dgm:prSet/>
      <dgm:spPr/>
      <dgm:t>
        <a:bodyPr/>
        <a:lstStyle/>
        <a:p>
          <a:endParaRPr lang="en-IN"/>
        </a:p>
      </dgm:t>
    </dgm:pt>
    <dgm:pt modelId="{F2347D77-DBB3-4940-8846-304CE8BDB576}" type="sibTrans" cxnId="{EA8B351B-EA2E-4322-AD1E-B0A0B0FD506C}">
      <dgm:prSet/>
      <dgm:spPr/>
      <dgm:t>
        <a:bodyPr/>
        <a:lstStyle/>
        <a:p>
          <a:endParaRPr lang="en-IN"/>
        </a:p>
      </dgm:t>
    </dgm:pt>
    <dgm:pt modelId="{B243F9A7-E640-40C9-88D9-B776CE1583FC}">
      <dgm:prSet/>
      <dgm:spPr>
        <a:solidFill>
          <a:srgbClr val="C00000"/>
        </a:solidFill>
      </dgm:spPr>
      <dgm:t>
        <a:bodyPr/>
        <a:lstStyle/>
        <a:p>
          <a:r>
            <a:rPr lang="en-IN" dirty="0" err="1"/>
            <a:t>InfluxDB</a:t>
          </a:r>
          <a:endParaRPr lang="en-IN" dirty="0"/>
        </a:p>
      </dgm:t>
    </dgm:pt>
    <dgm:pt modelId="{EDD0128B-3B81-48BF-89B3-87C253E3DF22}" type="parTrans" cxnId="{F15DF8A9-658B-46C1-A2CB-968574911B04}">
      <dgm:prSet/>
      <dgm:spPr/>
      <dgm:t>
        <a:bodyPr/>
        <a:lstStyle/>
        <a:p>
          <a:endParaRPr lang="en-IN"/>
        </a:p>
      </dgm:t>
    </dgm:pt>
    <dgm:pt modelId="{FDA5CD42-28CD-47CE-A560-DB387E68C6F9}" type="sibTrans" cxnId="{F15DF8A9-658B-46C1-A2CB-968574911B04}">
      <dgm:prSet/>
      <dgm:spPr/>
      <dgm:t>
        <a:bodyPr/>
        <a:lstStyle/>
        <a:p>
          <a:endParaRPr lang="en-IN"/>
        </a:p>
      </dgm:t>
    </dgm:pt>
    <dgm:pt modelId="{8D70036A-267C-4666-B518-2E7CB5705D1D}">
      <dgm:prSet/>
      <dgm:spPr>
        <a:solidFill>
          <a:srgbClr val="FF0000"/>
        </a:solidFill>
      </dgm:spPr>
      <dgm:t>
        <a:bodyPr/>
        <a:lstStyle/>
        <a:p>
          <a:r>
            <a:rPr lang="en-IN" dirty="0"/>
            <a:t>Subscriber Node</a:t>
          </a:r>
        </a:p>
      </dgm:t>
    </dgm:pt>
    <dgm:pt modelId="{2595773D-0E01-4CFD-9168-93DE4FCC11D8}" type="parTrans" cxnId="{D016FD48-E5D3-4AE1-A55C-C15AF6BB680D}">
      <dgm:prSet/>
      <dgm:spPr/>
      <dgm:t>
        <a:bodyPr/>
        <a:lstStyle/>
        <a:p>
          <a:endParaRPr lang="en-IN"/>
        </a:p>
      </dgm:t>
    </dgm:pt>
    <dgm:pt modelId="{0E890827-4F60-4A25-BFFF-C004A0482D54}" type="sibTrans" cxnId="{D016FD48-E5D3-4AE1-A55C-C15AF6BB680D}">
      <dgm:prSet/>
      <dgm:spPr/>
      <dgm:t>
        <a:bodyPr/>
        <a:lstStyle/>
        <a:p>
          <a:endParaRPr lang="en-IN"/>
        </a:p>
      </dgm:t>
    </dgm:pt>
    <dgm:pt modelId="{D4DC52C5-61E1-45B3-A6DF-96A90791605B}" type="pres">
      <dgm:prSet presAssocID="{8999068D-A0E6-4865-A159-EFBB32CFD890}" presName="Name0" presStyleCnt="0">
        <dgm:presLayoutVars>
          <dgm:dir/>
          <dgm:animLvl val="lvl"/>
          <dgm:resizeHandles val="exact"/>
        </dgm:presLayoutVars>
      </dgm:prSet>
      <dgm:spPr/>
    </dgm:pt>
    <dgm:pt modelId="{9E40E5BC-B0E4-4A8F-B256-706D80A33538}" type="pres">
      <dgm:prSet presAssocID="{E88C3F45-275C-439A-A43C-6B563814EEF9}" presName="parTxOnly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0A757DCA-DCD2-4991-B0B3-943AF07B7FEC}" type="pres">
      <dgm:prSet presAssocID="{CAB6D362-807C-40AD-9BFD-1CE3CCF950D9}" presName="parTxOnlySpace" presStyleCnt="0"/>
      <dgm:spPr/>
    </dgm:pt>
    <dgm:pt modelId="{7DAEAE86-139D-471F-BBF0-9EDED8DBC36F}" type="pres">
      <dgm:prSet presAssocID="{33313CE2-0466-478C-A8B2-725C78DDD901}" presName="parTxOnly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9BC92007-E830-4A70-961E-4990798CE9E3}" type="pres">
      <dgm:prSet presAssocID="{01CF8759-F6E9-4912-87CD-8AEC3340A852}" presName="parTxOnlySpace" presStyleCnt="0"/>
      <dgm:spPr/>
    </dgm:pt>
    <dgm:pt modelId="{8BC1C6F7-ADF7-4C51-A8D4-2494A7BA5F22}" type="pres">
      <dgm:prSet presAssocID="{9F5D5CD5-3535-49FA-B345-9234C666F354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449BA531-410B-491E-9A71-0ECD5D387D89}" type="pres">
      <dgm:prSet presAssocID="{F2347D77-DBB3-4940-8846-304CE8BDB576}" presName="parTxOnlySpace" presStyleCnt="0"/>
      <dgm:spPr/>
    </dgm:pt>
    <dgm:pt modelId="{683FED5A-E441-42E8-8C10-DEC9A5217B6F}" type="pres">
      <dgm:prSet presAssocID="{8D70036A-267C-4666-B518-2E7CB5705D1D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387350C7-1A74-4D58-BE9F-D298F6B5894F}" type="pres">
      <dgm:prSet presAssocID="{0E890827-4F60-4A25-BFFF-C004A0482D54}" presName="parTxOnlySpace" presStyleCnt="0"/>
      <dgm:spPr/>
    </dgm:pt>
    <dgm:pt modelId="{DCA225E0-1584-4AF7-AA7E-2D4114438570}" type="pres">
      <dgm:prSet presAssocID="{B243F9A7-E640-40C9-88D9-B776CE1583FC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98A21CA3-6D1E-41C8-B325-415DA2680D0C}" type="pres">
      <dgm:prSet presAssocID="{FDA5CD42-28CD-47CE-A560-DB387E68C6F9}" presName="parTxOnlySpace" presStyleCnt="0"/>
      <dgm:spPr/>
    </dgm:pt>
    <dgm:pt modelId="{0635A5A9-17AE-4BA5-B941-B7B23283DBA1}" type="pres">
      <dgm:prSet presAssocID="{552A3E54-E7D3-4BC9-9367-7662E9EAAFFE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5DE3C000-63AA-4C19-B24F-C21A594DDDCC}" type="presOf" srcId="{552A3E54-E7D3-4BC9-9367-7662E9EAAFFE}" destId="{0635A5A9-17AE-4BA5-B941-B7B23283DBA1}" srcOrd="0" destOrd="0" presId="urn:microsoft.com/office/officeart/2005/8/layout/chevron1"/>
    <dgm:cxn modelId="{52AB8C0B-CB41-4885-BAB7-35E54F35E8AE}" type="presOf" srcId="{E88C3F45-275C-439A-A43C-6B563814EEF9}" destId="{9E40E5BC-B0E4-4A8F-B256-706D80A33538}" srcOrd="0" destOrd="0" presId="urn:microsoft.com/office/officeart/2005/8/layout/chevron1"/>
    <dgm:cxn modelId="{0A14B30F-721B-4E82-9482-478D99B7773B}" type="presOf" srcId="{8999068D-A0E6-4865-A159-EFBB32CFD890}" destId="{D4DC52C5-61E1-45B3-A6DF-96A90791605B}" srcOrd="0" destOrd="0" presId="urn:microsoft.com/office/officeart/2005/8/layout/chevron1"/>
    <dgm:cxn modelId="{7FA88010-85E2-4DE6-9475-BD965F287460}" type="presOf" srcId="{33313CE2-0466-478C-A8B2-725C78DDD901}" destId="{7DAEAE86-139D-471F-BBF0-9EDED8DBC36F}" srcOrd="0" destOrd="0" presId="urn:microsoft.com/office/officeart/2005/8/layout/chevron1"/>
    <dgm:cxn modelId="{EA8B351B-EA2E-4322-AD1E-B0A0B0FD506C}" srcId="{8999068D-A0E6-4865-A159-EFBB32CFD890}" destId="{9F5D5CD5-3535-49FA-B345-9234C666F354}" srcOrd="2" destOrd="0" parTransId="{44C61B46-8E6F-460B-9D90-358D5B6945EC}" sibTransId="{F2347D77-DBB3-4940-8846-304CE8BDB576}"/>
    <dgm:cxn modelId="{8719741B-C23B-49FC-A900-FEE1CD5118D6}" srcId="{8999068D-A0E6-4865-A159-EFBB32CFD890}" destId="{552A3E54-E7D3-4BC9-9367-7662E9EAAFFE}" srcOrd="5" destOrd="0" parTransId="{1D76CADB-601A-418E-BAEA-CE9D36F54A48}" sibTransId="{EA741C48-9597-4579-8DD5-B5A7961F8D9C}"/>
    <dgm:cxn modelId="{B23BB92E-00C3-48F3-8E63-997F90CCAAEC}" type="presOf" srcId="{B243F9A7-E640-40C9-88D9-B776CE1583FC}" destId="{DCA225E0-1584-4AF7-AA7E-2D4114438570}" srcOrd="0" destOrd="0" presId="urn:microsoft.com/office/officeart/2005/8/layout/chevron1"/>
    <dgm:cxn modelId="{5E78C348-7E8C-4A90-AEC3-EDCC3E717C52}" type="presOf" srcId="{8D70036A-267C-4666-B518-2E7CB5705D1D}" destId="{683FED5A-E441-42E8-8C10-DEC9A5217B6F}" srcOrd="0" destOrd="0" presId="urn:microsoft.com/office/officeart/2005/8/layout/chevron1"/>
    <dgm:cxn modelId="{D016FD48-E5D3-4AE1-A55C-C15AF6BB680D}" srcId="{8999068D-A0E6-4865-A159-EFBB32CFD890}" destId="{8D70036A-267C-4666-B518-2E7CB5705D1D}" srcOrd="3" destOrd="0" parTransId="{2595773D-0E01-4CFD-9168-93DE4FCC11D8}" sibTransId="{0E890827-4F60-4A25-BFFF-C004A0482D54}"/>
    <dgm:cxn modelId="{9A7D3E4F-2EC0-4873-827E-5176A461183B}" srcId="{8999068D-A0E6-4865-A159-EFBB32CFD890}" destId="{E88C3F45-275C-439A-A43C-6B563814EEF9}" srcOrd="0" destOrd="0" parTransId="{5BA5EC63-5F93-4757-9E14-83073B4F29A2}" sibTransId="{CAB6D362-807C-40AD-9BFD-1CE3CCF950D9}"/>
    <dgm:cxn modelId="{1155C8A2-EDB3-469A-91A1-CBA930BC6A8F}" type="presOf" srcId="{9F5D5CD5-3535-49FA-B345-9234C666F354}" destId="{8BC1C6F7-ADF7-4C51-A8D4-2494A7BA5F22}" srcOrd="0" destOrd="0" presId="urn:microsoft.com/office/officeart/2005/8/layout/chevron1"/>
    <dgm:cxn modelId="{F15DF8A9-658B-46C1-A2CB-968574911B04}" srcId="{8999068D-A0E6-4865-A159-EFBB32CFD890}" destId="{B243F9A7-E640-40C9-88D9-B776CE1583FC}" srcOrd="4" destOrd="0" parTransId="{EDD0128B-3B81-48BF-89B3-87C253E3DF22}" sibTransId="{FDA5CD42-28CD-47CE-A560-DB387E68C6F9}"/>
    <dgm:cxn modelId="{69C7C6E6-27EB-4D46-A3DC-A8E2223E7AD9}" srcId="{8999068D-A0E6-4865-A159-EFBB32CFD890}" destId="{33313CE2-0466-478C-A8B2-725C78DDD901}" srcOrd="1" destOrd="0" parTransId="{5E8F8024-479A-4018-99FD-C0D793C67279}" sibTransId="{01CF8759-F6E9-4912-87CD-8AEC3340A852}"/>
    <dgm:cxn modelId="{DCDB84C8-9E8D-4B0C-99FB-2E88650E0E21}" type="presParOf" srcId="{D4DC52C5-61E1-45B3-A6DF-96A90791605B}" destId="{9E40E5BC-B0E4-4A8F-B256-706D80A33538}" srcOrd="0" destOrd="0" presId="urn:microsoft.com/office/officeart/2005/8/layout/chevron1"/>
    <dgm:cxn modelId="{98603AF7-B633-44EE-8C66-D8FF4FA95E6C}" type="presParOf" srcId="{D4DC52C5-61E1-45B3-A6DF-96A90791605B}" destId="{0A757DCA-DCD2-4991-B0B3-943AF07B7FEC}" srcOrd="1" destOrd="0" presId="urn:microsoft.com/office/officeart/2005/8/layout/chevron1"/>
    <dgm:cxn modelId="{19AD9B8D-3BE0-4969-B8C8-33F4DE710A94}" type="presParOf" srcId="{D4DC52C5-61E1-45B3-A6DF-96A90791605B}" destId="{7DAEAE86-139D-471F-BBF0-9EDED8DBC36F}" srcOrd="2" destOrd="0" presId="urn:microsoft.com/office/officeart/2005/8/layout/chevron1"/>
    <dgm:cxn modelId="{2CE34BAB-0118-4B49-BD7B-CCE741A2D3BE}" type="presParOf" srcId="{D4DC52C5-61E1-45B3-A6DF-96A90791605B}" destId="{9BC92007-E830-4A70-961E-4990798CE9E3}" srcOrd="3" destOrd="0" presId="urn:microsoft.com/office/officeart/2005/8/layout/chevron1"/>
    <dgm:cxn modelId="{CD934C21-97CF-42D9-8C08-8B5049605907}" type="presParOf" srcId="{D4DC52C5-61E1-45B3-A6DF-96A90791605B}" destId="{8BC1C6F7-ADF7-4C51-A8D4-2494A7BA5F22}" srcOrd="4" destOrd="0" presId="urn:microsoft.com/office/officeart/2005/8/layout/chevron1"/>
    <dgm:cxn modelId="{04082367-7D41-4CD5-8692-F41B1C381EA9}" type="presParOf" srcId="{D4DC52C5-61E1-45B3-A6DF-96A90791605B}" destId="{449BA531-410B-491E-9A71-0ECD5D387D89}" srcOrd="5" destOrd="0" presId="urn:microsoft.com/office/officeart/2005/8/layout/chevron1"/>
    <dgm:cxn modelId="{AC620682-D20B-4E6F-9E7E-0EE56D0C928E}" type="presParOf" srcId="{D4DC52C5-61E1-45B3-A6DF-96A90791605B}" destId="{683FED5A-E441-42E8-8C10-DEC9A5217B6F}" srcOrd="6" destOrd="0" presId="urn:microsoft.com/office/officeart/2005/8/layout/chevron1"/>
    <dgm:cxn modelId="{12DA4FEB-8A01-4E34-BF01-9F6517838E35}" type="presParOf" srcId="{D4DC52C5-61E1-45B3-A6DF-96A90791605B}" destId="{387350C7-1A74-4D58-BE9F-D298F6B5894F}" srcOrd="7" destOrd="0" presId="urn:microsoft.com/office/officeart/2005/8/layout/chevron1"/>
    <dgm:cxn modelId="{828895A4-5E26-4292-8B09-0F5836DA0A7D}" type="presParOf" srcId="{D4DC52C5-61E1-45B3-A6DF-96A90791605B}" destId="{DCA225E0-1584-4AF7-AA7E-2D4114438570}" srcOrd="8" destOrd="0" presId="urn:microsoft.com/office/officeart/2005/8/layout/chevron1"/>
    <dgm:cxn modelId="{4FA7C696-9584-448A-AB7D-48D29230436A}" type="presParOf" srcId="{D4DC52C5-61E1-45B3-A6DF-96A90791605B}" destId="{98A21CA3-6D1E-41C8-B325-415DA2680D0C}" srcOrd="9" destOrd="0" presId="urn:microsoft.com/office/officeart/2005/8/layout/chevron1"/>
    <dgm:cxn modelId="{1D1DDBE9-2C48-46BB-B8BC-61D9C8CD0764}" type="presParOf" srcId="{D4DC52C5-61E1-45B3-A6DF-96A90791605B}" destId="{0635A5A9-17AE-4BA5-B941-B7B23283DBA1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308508A-6863-43CE-813B-0D41FD9E6A9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E5FA963-AA0C-405D-85D1-69B426749BFF}">
      <dgm:prSet phldrT="[Text]" phldr="0" custT="1"/>
      <dgm:spPr/>
      <dgm:t>
        <a:bodyPr/>
        <a:lstStyle/>
        <a:p>
          <a:pPr algn="ctr"/>
          <a:r>
            <a:rPr lang="en-IN" sz="4000" b="1" dirty="0"/>
            <a:t>L1: Accelerometer</a:t>
          </a:r>
        </a:p>
      </dgm:t>
    </dgm:pt>
    <dgm:pt modelId="{A0B7A9E6-D690-4746-B684-9208D8F2EA11}" type="parTrans" cxnId="{9A0E3717-5D1E-4A96-8841-9D44D8DDB44E}">
      <dgm:prSet/>
      <dgm:spPr/>
      <dgm:t>
        <a:bodyPr/>
        <a:lstStyle/>
        <a:p>
          <a:endParaRPr lang="en-IN"/>
        </a:p>
      </dgm:t>
    </dgm:pt>
    <dgm:pt modelId="{F7F70B23-00FD-4E9B-8CB8-EED474B17047}" type="sibTrans" cxnId="{9A0E3717-5D1E-4A96-8841-9D44D8DDB44E}">
      <dgm:prSet/>
      <dgm:spPr/>
      <dgm:t>
        <a:bodyPr/>
        <a:lstStyle/>
        <a:p>
          <a:endParaRPr lang="en-IN"/>
        </a:p>
      </dgm:t>
    </dgm:pt>
    <dgm:pt modelId="{1B047F64-45D6-4842-974B-033C5A6A847E}">
      <dgm:prSet phldrT="[Text]" custT="1"/>
      <dgm:spPr/>
      <dgm:t>
        <a:bodyPr/>
        <a:lstStyle/>
        <a:p>
          <a:r>
            <a:rPr lang="en-IN" sz="1800" b="1" dirty="0"/>
            <a:t>Role</a:t>
          </a:r>
          <a:r>
            <a:rPr lang="en-IN" sz="1800" dirty="0"/>
            <a:t>: The Trigger. Instantly detects high-energy events (Impacts, Seizures, CPR).</a:t>
          </a:r>
        </a:p>
      </dgm:t>
    </dgm:pt>
    <dgm:pt modelId="{0A6E13B3-5404-490F-8B28-B045570B2F1F}" type="parTrans" cxnId="{EF87B779-9597-4DA4-B6F1-94C4861C8DE2}">
      <dgm:prSet/>
      <dgm:spPr/>
      <dgm:t>
        <a:bodyPr/>
        <a:lstStyle/>
        <a:p>
          <a:endParaRPr lang="en-IN"/>
        </a:p>
      </dgm:t>
    </dgm:pt>
    <dgm:pt modelId="{1D803817-599E-4792-AAC1-F070B7A25193}" type="sibTrans" cxnId="{EF87B779-9597-4DA4-B6F1-94C4861C8DE2}">
      <dgm:prSet/>
      <dgm:spPr/>
      <dgm:t>
        <a:bodyPr/>
        <a:lstStyle/>
        <a:p>
          <a:endParaRPr lang="en-IN"/>
        </a:p>
      </dgm:t>
    </dgm:pt>
    <dgm:pt modelId="{9809A346-45FF-40CD-AEBD-999812FCAD9D}">
      <dgm:prSet phldrT="[Text]" phldr="0" custT="1"/>
      <dgm:spPr/>
      <dgm:t>
        <a:bodyPr/>
        <a:lstStyle/>
        <a:p>
          <a:pPr algn="ctr"/>
          <a:r>
            <a:rPr lang="en-IN" sz="4000" b="1" dirty="0"/>
            <a:t>L2: Camera </a:t>
          </a:r>
        </a:p>
      </dgm:t>
    </dgm:pt>
    <dgm:pt modelId="{E7FC4B5E-15D7-406E-969A-973B99D39DDD}" type="parTrans" cxnId="{E1BC2B03-8122-4560-BF78-D3E56F1E5792}">
      <dgm:prSet/>
      <dgm:spPr/>
      <dgm:t>
        <a:bodyPr/>
        <a:lstStyle/>
        <a:p>
          <a:endParaRPr lang="en-IN"/>
        </a:p>
      </dgm:t>
    </dgm:pt>
    <dgm:pt modelId="{CAD2C943-5592-40D9-AD90-63D49FFCE91B}" type="sibTrans" cxnId="{E1BC2B03-8122-4560-BF78-D3E56F1E5792}">
      <dgm:prSet/>
      <dgm:spPr/>
      <dgm:t>
        <a:bodyPr/>
        <a:lstStyle/>
        <a:p>
          <a:endParaRPr lang="en-IN"/>
        </a:p>
      </dgm:t>
    </dgm:pt>
    <dgm:pt modelId="{88617034-A683-4119-8D96-B587CA0DC913}">
      <dgm:prSet phldrT="[Text]" custT="1"/>
      <dgm:spPr/>
      <dgm:t>
        <a:bodyPr/>
        <a:lstStyle/>
        <a:p>
          <a:r>
            <a:rPr lang="en-IN" sz="1800" b="1" dirty="0"/>
            <a:t>Role</a:t>
          </a:r>
          <a:r>
            <a:rPr lang="en-IN" sz="1800" dirty="0"/>
            <a:t>: The Validator. Checks patient posture to confirm the sensor's story.</a:t>
          </a:r>
        </a:p>
      </dgm:t>
    </dgm:pt>
    <dgm:pt modelId="{6F6A555A-7581-4FDA-8C62-78C26BFCE4F2}" type="parTrans" cxnId="{C5C89656-42BF-4520-A7D1-24C787345A93}">
      <dgm:prSet/>
      <dgm:spPr/>
      <dgm:t>
        <a:bodyPr/>
        <a:lstStyle/>
        <a:p>
          <a:endParaRPr lang="en-IN"/>
        </a:p>
      </dgm:t>
    </dgm:pt>
    <dgm:pt modelId="{8120C94A-5B2C-4059-8268-FF133201C124}" type="sibTrans" cxnId="{C5C89656-42BF-4520-A7D1-24C787345A93}">
      <dgm:prSet/>
      <dgm:spPr/>
      <dgm:t>
        <a:bodyPr/>
        <a:lstStyle/>
        <a:p>
          <a:endParaRPr lang="en-IN"/>
        </a:p>
      </dgm:t>
    </dgm:pt>
    <dgm:pt modelId="{C68FE944-7E90-4432-A815-C0D089FC901E}">
      <dgm:prSet custT="1"/>
      <dgm:spPr/>
      <dgm:t>
        <a:bodyPr/>
        <a:lstStyle/>
        <a:p>
          <a:r>
            <a:rPr lang="en-IN" sz="1800" b="1" dirty="0"/>
            <a:t>Reliability</a:t>
          </a:r>
          <a:r>
            <a:rPr lang="en-IN" sz="1800" dirty="0"/>
            <a:t>: 98% detection rate for physical forces.</a:t>
          </a:r>
        </a:p>
      </dgm:t>
    </dgm:pt>
    <dgm:pt modelId="{51088095-6ADB-4117-ACE9-249E63494A77}" type="parTrans" cxnId="{5E2361F8-9792-4665-94F0-45F496040CDF}">
      <dgm:prSet/>
      <dgm:spPr/>
      <dgm:t>
        <a:bodyPr/>
        <a:lstStyle/>
        <a:p>
          <a:endParaRPr lang="en-IN"/>
        </a:p>
      </dgm:t>
    </dgm:pt>
    <dgm:pt modelId="{F3381C2D-8F32-4DA0-B943-7066E788F7A6}" type="sibTrans" cxnId="{5E2361F8-9792-4665-94F0-45F496040CDF}">
      <dgm:prSet/>
      <dgm:spPr/>
      <dgm:t>
        <a:bodyPr/>
        <a:lstStyle/>
        <a:p>
          <a:endParaRPr lang="en-IN"/>
        </a:p>
      </dgm:t>
    </dgm:pt>
    <dgm:pt modelId="{79B6591A-22BC-4CD2-A07E-FB72D2BA9BA4}">
      <dgm:prSet custT="1"/>
      <dgm:spPr/>
      <dgm:t>
        <a:bodyPr/>
        <a:lstStyle/>
        <a:p>
          <a:r>
            <a:rPr lang="en-IN" sz="1800" b="1" dirty="0"/>
            <a:t>Classes</a:t>
          </a:r>
          <a:r>
            <a:rPr lang="en-IN" sz="1800" dirty="0"/>
            <a:t>: SAFE (Vertical), DOWN (Horizontal), DISTRESS (Hunched).</a:t>
          </a:r>
        </a:p>
      </dgm:t>
    </dgm:pt>
    <dgm:pt modelId="{A1D4F51F-3CEF-4DB2-9808-18E4CA405676}" type="parTrans" cxnId="{58CC0FDB-0EC8-47BA-8317-21FD686FCD37}">
      <dgm:prSet/>
      <dgm:spPr/>
      <dgm:t>
        <a:bodyPr/>
        <a:lstStyle/>
        <a:p>
          <a:endParaRPr lang="en-IN"/>
        </a:p>
      </dgm:t>
    </dgm:pt>
    <dgm:pt modelId="{4BCFC42C-7717-47B4-8DC0-59C8F60323D5}" type="sibTrans" cxnId="{58CC0FDB-0EC8-47BA-8317-21FD686FCD37}">
      <dgm:prSet/>
      <dgm:spPr/>
      <dgm:t>
        <a:bodyPr/>
        <a:lstStyle/>
        <a:p>
          <a:endParaRPr lang="en-IN"/>
        </a:p>
      </dgm:t>
    </dgm:pt>
    <dgm:pt modelId="{A7F8D786-A4F6-4412-B065-E59A47351E30}">
      <dgm:prSet custT="1"/>
      <dgm:spPr/>
      <dgm:t>
        <a:bodyPr/>
        <a:lstStyle/>
        <a:p>
          <a:r>
            <a:rPr lang="en-IN" sz="1800" b="1" dirty="0"/>
            <a:t>Model</a:t>
          </a:r>
          <a:r>
            <a:rPr lang="en-IN" sz="1800" dirty="0"/>
            <a:t>: 1D-CNN (Motion Pattern Recognition).</a:t>
          </a:r>
        </a:p>
      </dgm:t>
    </dgm:pt>
    <dgm:pt modelId="{1892A224-F65E-42E2-87B0-0BEB0DF231C5}" type="parTrans" cxnId="{920C576F-3276-48FE-A6B4-C511E5794C22}">
      <dgm:prSet/>
      <dgm:spPr/>
      <dgm:t>
        <a:bodyPr/>
        <a:lstStyle/>
        <a:p>
          <a:endParaRPr lang="en-IN"/>
        </a:p>
      </dgm:t>
    </dgm:pt>
    <dgm:pt modelId="{E6DFFDE3-5991-4D24-BCBF-DD87E3FA7794}" type="sibTrans" cxnId="{920C576F-3276-48FE-A6B4-C511E5794C22}">
      <dgm:prSet/>
      <dgm:spPr/>
      <dgm:t>
        <a:bodyPr/>
        <a:lstStyle/>
        <a:p>
          <a:endParaRPr lang="en-IN"/>
        </a:p>
      </dgm:t>
    </dgm:pt>
    <dgm:pt modelId="{8F16048A-CC4D-477A-88D8-4BD0891F068C}">
      <dgm:prSet custT="1"/>
      <dgm:spPr/>
      <dgm:t>
        <a:bodyPr/>
        <a:lstStyle/>
        <a:p>
          <a:r>
            <a:rPr lang="en-IN" sz="1800" b="1" dirty="0"/>
            <a:t>Model</a:t>
          </a:r>
          <a:r>
            <a:rPr lang="en-IN" sz="1800" dirty="0"/>
            <a:t>: MobileNetV3 (Vision).</a:t>
          </a:r>
        </a:p>
      </dgm:t>
    </dgm:pt>
    <dgm:pt modelId="{A3DE1400-AB3F-4C05-A1C5-47BCAB690117}" type="parTrans" cxnId="{DE9C43F9-1976-4521-9E04-A50EDAEB30C5}">
      <dgm:prSet/>
      <dgm:spPr/>
      <dgm:t>
        <a:bodyPr/>
        <a:lstStyle/>
        <a:p>
          <a:endParaRPr lang="en-IN"/>
        </a:p>
      </dgm:t>
    </dgm:pt>
    <dgm:pt modelId="{9C75001F-083C-42F3-BE16-E29024188215}" type="sibTrans" cxnId="{DE9C43F9-1976-4521-9E04-A50EDAEB30C5}">
      <dgm:prSet/>
      <dgm:spPr/>
      <dgm:t>
        <a:bodyPr/>
        <a:lstStyle/>
        <a:p>
          <a:endParaRPr lang="en-IN"/>
        </a:p>
      </dgm:t>
    </dgm:pt>
    <dgm:pt modelId="{1CDB0932-2208-4EDB-89D2-1E1B8A46F7E8}" type="pres">
      <dgm:prSet presAssocID="{E308508A-6863-43CE-813B-0D41FD9E6A9B}" presName="linear" presStyleCnt="0">
        <dgm:presLayoutVars>
          <dgm:animLvl val="lvl"/>
          <dgm:resizeHandles val="exact"/>
        </dgm:presLayoutVars>
      </dgm:prSet>
      <dgm:spPr/>
    </dgm:pt>
    <dgm:pt modelId="{E61D982C-40AA-4547-91EF-1069CCAEB7B8}" type="pres">
      <dgm:prSet presAssocID="{6E5FA963-AA0C-405D-85D1-69B426749BF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FF67D1FD-9161-4DDD-A5AD-104F44A22D91}" type="pres">
      <dgm:prSet presAssocID="{6E5FA963-AA0C-405D-85D1-69B426749BFF}" presName="childText" presStyleLbl="revTx" presStyleIdx="0" presStyleCnt="2">
        <dgm:presLayoutVars>
          <dgm:bulletEnabled val="1"/>
        </dgm:presLayoutVars>
      </dgm:prSet>
      <dgm:spPr/>
    </dgm:pt>
    <dgm:pt modelId="{2692C0ED-8917-4E08-A720-825812FE2FD2}" type="pres">
      <dgm:prSet presAssocID="{9809A346-45FF-40CD-AEBD-999812FCAD9D}" presName="parentText" presStyleLbl="node1" presStyleIdx="1" presStyleCnt="2" custLinFactNeighborX="-330">
        <dgm:presLayoutVars>
          <dgm:chMax val="0"/>
          <dgm:bulletEnabled val="1"/>
        </dgm:presLayoutVars>
      </dgm:prSet>
      <dgm:spPr/>
    </dgm:pt>
    <dgm:pt modelId="{F23A9C85-0D8A-4B8F-B841-F546C0EAF783}" type="pres">
      <dgm:prSet presAssocID="{9809A346-45FF-40CD-AEBD-999812FCAD9D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7F518C02-71EE-41D6-8AB5-08BF1A2FE65E}" type="presOf" srcId="{E308508A-6863-43CE-813B-0D41FD9E6A9B}" destId="{1CDB0932-2208-4EDB-89D2-1E1B8A46F7E8}" srcOrd="0" destOrd="0" presId="urn:microsoft.com/office/officeart/2005/8/layout/vList2"/>
    <dgm:cxn modelId="{E1BC2B03-8122-4560-BF78-D3E56F1E5792}" srcId="{E308508A-6863-43CE-813B-0D41FD9E6A9B}" destId="{9809A346-45FF-40CD-AEBD-999812FCAD9D}" srcOrd="1" destOrd="0" parTransId="{E7FC4B5E-15D7-406E-969A-973B99D39DDD}" sibTransId="{CAD2C943-5592-40D9-AD90-63D49FFCE91B}"/>
    <dgm:cxn modelId="{9A0E3717-5D1E-4A96-8841-9D44D8DDB44E}" srcId="{E308508A-6863-43CE-813B-0D41FD9E6A9B}" destId="{6E5FA963-AA0C-405D-85D1-69B426749BFF}" srcOrd="0" destOrd="0" parTransId="{A0B7A9E6-D690-4746-B684-9208D8F2EA11}" sibTransId="{F7F70B23-00FD-4E9B-8CB8-EED474B17047}"/>
    <dgm:cxn modelId="{48D72725-3029-4046-A3F3-42CD50C2C13E}" type="presOf" srcId="{8F16048A-CC4D-477A-88D8-4BD0891F068C}" destId="{F23A9C85-0D8A-4B8F-B841-F546C0EAF783}" srcOrd="0" destOrd="2" presId="urn:microsoft.com/office/officeart/2005/8/layout/vList2"/>
    <dgm:cxn modelId="{920C576F-3276-48FE-A6B4-C511E5794C22}" srcId="{6E5FA963-AA0C-405D-85D1-69B426749BFF}" destId="{A7F8D786-A4F6-4412-B065-E59A47351E30}" srcOrd="2" destOrd="0" parTransId="{1892A224-F65E-42E2-87B0-0BEB0DF231C5}" sibTransId="{E6DFFDE3-5991-4D24-BCBF-DD87E3FA7794}"/>
    <dgm:cxn modelId="{57D55272-B90B-41AF-AD9E-A5B804C86AC4}" type="presOf" srcId="{1B047F64-45D6-4842-974B-033C5A6A847E}" destId="{FF67D1FD-9161-4DDD-A5AD-104F44A22D91}" srcOrd="0" destOrd="0" presId="urn:microsoft.com/office/officeart/2005/8/layout/vList2"/>
    <dgm:cxn modelId="{C5C89656-42BF-4520-A7D1-24C787345A93}" srcId="{9809A346-45FF-40CD-AEBD-999812FCAD9D}" destId="{88617034-A683-4119-8D96-B587CA0DC913}" srcOrd="0" destOrd="0" parTransId="{6F6A555A-7581-4FDA-8C62-78C26BFCE4F2}" sibTransId="{8120C94A-5B2C-4059-8268-FF133201C124}"/>
    <dgm:cxn modelId="{EF87B779-9597-4DA4-B6F1-94C4861C8DE2}" srcId="{6E5FA963-AA0C-405D-85D1-69B426749BFF}" destId="{1B047F64-45D6-4842-974B-033C5A6A847E}" srcOrd="0" destOrd="0" parTransId="{0A6E13B3-5404-490F-8B28-B045570B2F1F}" sibTransId="{1D803817-599E-4792-AAC1-F070B7A25193}"/>
    <dgm:cxn modelId="{843EABC8-9068-412A-A670-FF020F3534BA}" type="presOf" srcId="{79B6591A-22BC-4CD2-A07E-FB72D2BA9BA4}" destId="{F23A9C85-0D8A-4B8F-B841-F546C0EAF783}" srcOrd="0" destOrd="1" presId="urn:microsoft.com/office/officeart/2005/8/layout/vList2"/>
    <dgm:cxn modelId="{827478CB-993F-4593-A42C-55ED602B9CBD}" type="presOf" srcId="{88617034-A683-4119-8D96-B587CA0DC913}" destId="{F23A9C85-0D8A-4B8F-B841-F546C0EAF783}" srcOrd="0" destOrd="0" presId="urn:microsoft.com/office/officeart/2005/8/layout/vList2"/>
    <dgm:cxn modelId="{EC47FACD-9358-4B45-AA3D-9D69FCCC6546}" type="presOf" srcId="{C68FE944-7E90-4432-A815-C0D089FC901E}" destId="{FF67D1FD-9161-4DDD-A5AD-104F44A22D91}" srcOrd="0" destOrd="1" presId="urn:microsoft.com/office/officeart/2005/8/layout/vList2"/>
    <dgm:cxn modelId="{27E2DFD5-5AB2-4CE6-912F-CA04DB026C81}" type="presOf" srcId="{6E5FA963-AA0C-405D-85D1-69B426749BFF}" destId="{E61D982C-40AA-4547-91EF-1069CCAEB7B8}" srcOrd="0" destOrd="0" presId="urn:microsoft.com/office/officeart/2005/8/layout/vList2"/>
    <dgm:cxn modelId="{58CC0FDB-0EC8-47BA-8317-21FD686FCD37}" srcId="{9809A346-45FF-40CD-AEBD-999812FCAD9D}" destId="{79B6591A-22BC-4CD2-A07E-FB72D2BA9BA4}" srcOrd="1" destOrd="0" parTransId="{A1D4F51F-3CEF-4DB2-9808-18E4CA405676}" sibTransId="{4BCFC42C-7717-47B4-8DC0-59C8F60323D5}"/>
    <dgm:cxn modelId="{DAB2BADB-4AD5-410D-87BF-C6290125EFF5}" type="presOf" srcId="{9809A346-45FF-40CD-AEBD-999812FCAD9D}" destId="{2692C0ED-8917-4E08-A720-825812FE2FD2}" srcOrd="0" destOrd="0" presId="urn:microsoft.com/office/officeart/2005/8/layout/vList2"/>
    <dgm:cxn modelId="{8638EEDC-2644-45C1-9BBA-3363E3360F38}" type="presOf" srcId="{A7F8D786-A4F6-4412-B065-E59A47351E30}" destId="{FF67D1FD-9161-4DDD-A5AD-104F44A22D91}" srcOrd="0" destOrd="2" presId="urn:microsoft.com/office/officeart/2005/8/layout/vList2"/>
    <dgm:cxn modelId="{5E2361F8-9792-4665-94F0-45F496040CDF}" srcId="{6E5FA963-AA0C-405D-85D1-69B426749BFF}" destId="{C68FE944-7E90-4432-A815-C0D089FC901E}" srcOrd="1" destOrd="0" parTransId="{51088095-6ADB-4117-ACE9-249E63494A77}" sibTransId="{F3381C2D-8F32-4DA0-B943-7066E788F7A6}"/>
    <dgm:cxn modelId="{DE9C43F9-1976-4521-9E04-A50EDAEB30C5}" srcId="{9809A346-45FF-40CD-AEBD-999812FCAD9D}" destId="{8F16048A-CC4D-477A-88D8-4BD0891F068C}" srcOrd="2" destOrd="0" parTransId="{A3DE1400-AB3F-4C05-A1C5-47BCAB690117}" sibTransId="{9C75001F-083C-42F3-BE16-E29024188215}"/>
    <dgm:cxn modelId="{B5D95EA2-EC46-47D5-970A-564554EB9FF7}" type="presParOf" srcId="{1CDB0932-2208-4EDB-89D2-1E1B8A46F7E8}" destId="{E61D982C-40AA-4547-91EF-1069CCAEB7B8}" srcOrd="0" destOrd="0" presId="urn:microsoft.com/office/officeart/2005/8/layout/vList2"/>
    <dgm:cxn modelId="{FC1B8775-2D7D-4ECB-B07F-31D7398D3167}" type="presParOf" srcId="{1CDB0932-2208-4EDB-89D2-1E1B8A46F7E8}" destId="{FF67D1FD-9161-4DDD-A5AD-104F44A22D91}" srcOrd="1" destOrd="0" presId="urn:microsoft.com/office/officeart/2005/8/layout/vList2"/>
    <dgm:cxn modelId="{E70463A3-5D60-466A-8904-C5BD505FC184}" type="presParOf" srcId="{1CDB0932-2208-4EDB-89D2-1E1B8A46F7E8}" destId="{2692C0ED-8917-4E08-A720-825812FE2FD2}" srcOrd="2" destOrd="0" presId="urn:microsoft.com/office/officeart/2005/8/layout/vList2"/>
    <dgm:cxn modelId="{3A076130-409C-4F9F-9EC5-6427B7229A6F}" type="presParOf" srcId="{1CDB0932-2208-4EDB-89D2-1E1B8A46F7E8}" destId="{F23A9C85-0D8A-4B8F-B841-F546C0EAF783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EBE8A7-C230-4EAD-88AF-FE8106F26061}">
      <dsp:nvSpPr>
        <dsp:cNvPr id="0" name=""/>
        <dsp:cNvSpPr/>
      </dsp:nvSpPr>
      <dsp:spPr>
        <a:xfrm>
          <a:off x="0" y="0"/>
          <a:ext cx="9810750" cy="2633662"/>
        </a:xfrm>
        <a:prstGeom prst="roundRect">
          <a:avLst>
            <a:gd name="adj" fmla="val 10000"/>
          </a:avLst>
        </a:prstGeom>
        <a:solidFill>
          <a:schemeClr val="tx2">
            <a:alpha val="89804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3879EE-EDC4-4482-A351-B25AEDD45E97}">
      <dsp:nvSpPr>
        <dsp:cNvPr id="0" name=""/>
        <dsp:cNvSpPr/>
      </dsp:nvSpPr>
      <dsp:spPr>
        <a:xfrm>
          <a:off x="294322" y="351154"/>
          <a:ext cx="2881907" cy="1931352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 r:embed="rId1"/>
          <a:srcRect/>
          <a:stretch>
            <a:fillRect l="-22374" t="-18451" r="-22374" b="-18451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108D1E-6CA1-4D09-AAE2-94FFB05729A9}">
      <dsp:nvSpPr>
        <dsp:cNvPr id="0" name=""/>
        <dsp:cNvSpPr/>
      </dsp:nvSpPr>
      <dsp:spPr>
        <a:xfrm rot="10800000">
          <a:off x="294322" y="2633662"/>
          <a:ext cx="2881907" cy="3218920"/>
        </a:xfrm>
        <a:prstGeom prst="round2SameRect">
          <a:avLst>
            <a:gd name="adj1" fmla="val 10500"/>
            <a:gd name="adj2" fmla="val 0"/>
          </a:avLst>
        </a:prstGeom>
        <a:solidFill>
          <a:srgbClr val="00206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b="1" u="sng" kern="1200" dirty="0"/>
            <a:t>AD8232 ECG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b="1" u="none" kern="1200" dirty="0"/>
            <a:t>Purpose: </a:t>
          </a:r>
          <a:r>
            <a:rPr lang="en-US" sz="1600" u="none" kern="1200" dirty="0"/>
            <a:t>Measures</a:t>
          </a:r>
          <a:r>
            <a:rPr lang="en-US" sz="1600" kern="1200" dirty="0"/>
            <a:t> electrical activity to analyze heart rhythm and detect arrhythmias.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b="1" u="none" kern="1200" dirty="0"/>
            <a:t>Specs: </a:t>
          </a:r>
          <a:r>
            <a:rPr lang="en-US" sz="1600" kern="1200" dirty="0"/>
            <a:t>Low-power, compact, and wearable design.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b="1" u="none" kern="1200" dirty="0"/>
            <a:t>Output:</a:t>
          </a:r>
          <a:r>
            <a:rPr lang="en-US" sz="1600" u="none" kern="1200" dirty="0"/>
            <a:t> </a:t>
          </a:r>
          <a:r>
            <a:rPr lang="en-US" sz="1600" kern="1200" dirty="0"/>
            <a:t>Uses 3 electrodes to output high frequency analog ECG waveform</a:t>
          </a:r>
          <a:endParaRPr lang="en-IN" sz="1600" kern="1200" dirty="0"/>
        </a:p>
      </dsp:txBody>
      <dsp:txXfrm rot="10800000">
        <a:off x="382951" y="2633662"/>
        <a:ext cx="2704649" cy="3130291"/>
      </dsp:txXfrm>
    </dsp:sp>
    <dsp:sp modelId="{A1526451-D326-4024-9E6E-596139B10B3F}">
      <dsp:nvSpPr>
        <dsp:cNvPr id="0" name=""/>
        <dsp:cNvSpPr/>
      </dsp:nvSpPr>
      <dsp:spPr>
        <a:xfrm>
          <a:off x="3464421" y="351154"/>
          <a:ext cx="2881907" cy="1931352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2">
            <a:alphaModFix/>
          </a:blip>
          <a:srcRect/>
          <a:stretch>
            <a:fillRect t="-17000" b="-17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9A9BFD-9B3F-435C-A496-C250D5E2A32A}">
      <dsp:nvSpPr>
        <dsp:cNvPr id="0" name=""/>
        <dsp:cNvSpPr/>
      </dsp:nvSpPr>
      <dsp:spPr>
        <a:xfrm rot="10800000">
          <a:off x="3464421" y="2633662"/>
          <a:ext cx="2881907" cy="3218920"/>
        </a:xfrm>
        <a:prstGeom prst="round2SameRect">
          <a:avLst>
            <a:gd name="adj1" fmla="val 10500"/>
            <a:gd name="adj2" fmla="val 0"/>
          </a:avLst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600" b="1" u="sng" kern="1200" dirty="0"/>
            <a:t>ESP32CAM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b="1" kern="1200" dirty="0"/>
            <a:t>Purpose:</a:t>
          </a:r>
          <a:r>
            <a:rPr lang="en-US" sz="1600" kern="1200" dirty="0"/>
            <a:t> Captures real-time video to classify hand gestures for patient communication.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b="1" kern="1200" dirty="0"/>
            <a:t>Specs:</a:t>
          </a:r>
          <a:r>
            <a:rPr lang="en-US" sz="1600" kern="1200" dirty="0"/>
            <a:t> Integrated Camera + Wi-Fi module for edge inference; easily mountable.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b="1" kern="1200" dirty="0"/>
            <a:t>Output: </a:t>
          </a:r>
          <a:r>
            <a:rPr lang="en-US" sz="1600" kern="1200" dirty="0"/>
            <a:t>gesture ‘</a:t>
          </a:r>
          <a:r>
            <a:rPr lang="en-US" sz="1600" kern="1200" dirty="0" err="1"/>
            <a:t>class’</a:t>
          </a:r>
          <a:r>
            <a:rPr lang="en-US" sz="1600" kern="1200" dirty="0"/>
            <a:t> labels for monitoring &amp; alerting</a:t>
          </a:r>
          <a:endParaRPr lang="en-IN" sz="1600" kern="1200" dirty="0"/>
        </a:p>
      </dsp:txBody>
      <dsp:txXfrm rot="10800000">
        <a:off x="3553050" y="2633662"/>
        <a:ext cx="2704649" cy="3130291"/>
      </dsp:txXfrm>
    </dsp:sp>
    <dsp:sp modelId="{A691BCE4-6A58-462E-9195-AC2BDE026A32}">
      <dsp:nvSpPr>
        <dsp:cNvPr id="0" name=""/>
        <dsp:cNvSpPr/>
      </dsp:nvSpPr>
      <dsp:spPr>
        <a:xfrm>
          <a:off x="6634519" y="351154"/>
          <a:ext cx="2881907" cy="1931352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836A78-3332-4781-BD82-4DAA063C490A}">
      <dsp:nvSpPr>
        <dsp:cNvPr id="0" name=""/>
        <dsp:cNvSpPr/>
      </dsp:nvSpPr>
      <dsp:spPr>
        <a:xfrm rot="10800000">
          <a:off x="6634519" y="2633662"/>
          <a:ext cx="2881907" cy="3218920"/>
        </a:xfrm>
        <a:prstGeom prst="round2SameRect">
          <a:avLst>
            <a:gd name="adj1" fmla="val 10500"/>
            <a:gd name="adj2" fmla="val 0"/>
          </a:avLst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600" b="1" u="sng" kern="1200" dirty="0"/>
            <a:t>MPU6050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b="1" kern="1200" dirty="0"/>
            <a:t>Purpose:</a:t>
          </a:r>
          <a:r>
            <a:rPr lang="en-US" sz="1600" kern="1200" dirty="0"/>
            <a:t> Monitors orientation and acceleration to detect falls or sudden posture changes.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b="1" kern="1200" dirty="0"/>
            <a:t>Specs:</a:t>
          </a:r>
          <a:r>
            <a:rPr lang="en-US" sz="1600" kern="1200" dirty="0"/>
            <a:t> 6-axis motion tracking (Accelerometer + Gyroscope) in a single chip.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b="1" kern="1200" dirty="0"/>
            <a:t>Output: </a:t>
          </a:r>
          <a:r>
            <a:rPr lang="en-US" sz="1600" b="0" kern="1200" dirty="0"/>
            <a:t>uses parameters to detect falls</a:t>
          </a:r>
          <a:endParaRPr lang="en-IN" sz="1600" kern="1200" dirty="0"/>
        </a:p>
      </dsp:txBody>
      <dsp:txXfrm rot="10800000">
        <a:off x="6723148" y="2633662"/>
        <a:ext cx="2704649" cy="313029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40E5BC-B0E4-4A8F-B256-706D80A33538}">
      <dsp:nvSpPr>
        <dsp:cNvPr id="0" name=""/>
        <dsp:cNvSpPr/>
      </dsp:nvSpPr>
      <dsp:spPr>
        <a:xfrm>
          <a:off x="5478" y="741731"/>
          <a:ext cx="2038089" cy="815235"/>
        </a:xfrm>
        <a:prstGeom prst="chevron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Sensors</a:t>
          </a:r>
          <a:endParaRPr lang="en-IN" sz="1800" kern="1200" dirty="0"/>
        </a:p>
      </dsp:txBody>
      <dsp:txXfrm>
        <a:off x="413096" y="741731"/>
        <a:ext cx="1222854" cy="815235"/>
      </dsp:txXfrm>
    </dsp:sp>
    <dsp:sp modelId="{7DAEAE86-139D-471F-BBF0-9EDED8DBC36F}">
      <dsp:nvSpPr>
        <dsp:cNvPr id="0" name=""/>
        <dsp:cNvSpPr/>
      </dsp:nvSpPr>
      <dsp:spPr>
        <a:xfrm>
          <a:off x="1839759" y="741731"/>
          <a:ext cx="2038089" cy="815235"/>
        </a:xfrm>
        <a:prstGeom prst="chevron">
          <a:avLst/>
        </a:prstGeom>
        <a:solidFill>
          <a:srgbClr val="FF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MQTT server</a:t>
          </a:r>
        </a:p>
      </dsp:txBody>
      <dsp:txXfrm>
        <a:off x="2247377" y="741731"/>
        <a:ext cx="1222854" cy="815235"/>
      </dsp:txXfrm>
    </dsp:sp>
    <dsp:sp modelId="{8BC1C6F7-ADF7-4C51-A8D4-2494A7BA5F22}">
      <dsp:nvSpPr>
        <dsp:cNvPr id="0" name=""/>
        <dsp:cNvSpPr/>
      </dsp:nvSpPr>
      <dsp:spPr>
        <a:xfrm>
          <a:off x="3674039" y="741731"/>
          <a:ext cx="2038089" cy="815235"/>
        </a:xfrm>
        <a:prstGeom prst="chevron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Broker</a:t>
          </a:r>
        </a:p>
      </dsp:txBody>
      <dsp:txXfrm>
        <a:off x="4081657" y="741731"/>
        <a:ext cx="1222854" cy="815235"/>
      </dsp:txXfrm>
    </dsp:sp>
    <dsp:sp modelId="{683FED5A-E441-42E8-8C10-DEC9A5217B6F}">
      <dsp:nvSpPr>
        <dsp:cNvPr id="0" name=""/>
        <dsp:cNvSpPr/>
      </dsp:nvSpPr>
      <dsp:spPr>
        <a:xfrm>
          <a:off x="5508320" y="741731"/>
          <a:ext cx="2038089" cy="815235"/>
        </a:xfrm>
        <a:prstGeom prst="chevron">
          <a:avLst/>
        </a:prstGeom>
        <a:solidFill>
          <a:srgbClr val="FF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Subscriber Node</a:t>
          </a:r>
        </a:p>
      </dsp:txBody>
      <dsp:txXfrm>
        <a:off x="5915938" y="741731"/>
        <a:ext cx="1222854" cy="815235"/>
      </dsp:txXfrm>
    </dsp:sp>
    <dsp:sp modelId="{DCA225E0-1584-4AF7-AA7E-2D4114438570}">
      <dsp:nvSpPr>
        <dsp:cNvPr id="0" name=""/>
        <dsp:cNvSpPr/>
      </dsp:nvSpPr>
      <dsp:spPr>
        <a:xfrm>
          <a:off x="7342601" y="741731"/>
          <a:ext cx="2038089" cy="815235"/>
        </a:xfrm>
        <a:prstGeom prst="chevron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 err="1"/>
            <a:t>InfluxDB</a:t>
          </a:r>
          <a:endParaRPr lang="en-IN" sz="1800" kern="1200" dirty="0"/>
        </a:p>
      </dsp:txBody>
      <dsp:txXfrm>
        <a:off x="7750219" y="741731"/>
        <a:ext cx="1222854" cy="815235"/>
      </dsp:txXfrm>
    </dsp:sp>
    <dsp:sp modelId="{0635A5A9-17AE-4BA5-B941-B7B23283DBA1}">
      <dsp:nvSpPr>
        <dsp:cNvPr id="0" name=""/>
        <dsp:cNvSpPr/>
      </dsp:nvSpPr>
      <dsp:spPr>
        <a:xfrm>
          <a:off x="9176881" y="741731"/>
          <a:ext cx="2038089" cy="815235"/>
        </a:xfrm>
        <a:prstGeom prst="chevron">
          <a:avLst/>
        </a:prstGeom>
        <a:solidFill>
          <a:srgbClr val="FF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AI model</a:t>
          </a:r>
        </a:p>
      </dsp:txBody>
      <dsp:txXfrm>
        <a:off x="9584499" y="741731"/>
        <a:ext cx="1222854" cy="8152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1D982C-40AA-4547-91EF-1069CCAEB7B8}">
      <dsp:nvSpPr>
        <dsp:cNvPr id="0" name=""/>
        <dsp:cNvSpPr/>
      </dsp:nvSpPr>
      <dsp:spPr>
        <a:xfrm>
          <a:off x="0" y="7430"/>
          <a:ext cx="8657772" cy="9547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000" b="1" kern="1200" dirty="0"/>
            <a:t>L1: Accelerometer</a:t>
          </a:r>
        </a:p>
      </dsp:txBody>
      <dsp:txXfrm>
        <a:off x="46606" y="54036"/>
        <a:ext cx="8564560" cy="861508"/>
      </dsp:txXfrm>
    </dsp:sp>
    <dsp:sp modelId="{FF67D1FD-9161-4DDD-A5AD-104F44A22D91}">
      <dsp:nvSpPr>
        <dsp:cNvPr id="0" name=""/>
        <dsp:cNvSpPr/>
      </dsp:nvSpPr>
      <dsp:spPr>
        <a:xfrm>
          <a:off x="0" y="962150"/>
          <a:ext cx="8657772" cy="1108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4884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800" b="1" kern="1200" dirty="0"/>
            <a:t>Role</a:t>
          </a:r>
          <a:r>
            <a:rPr lang="en-IN" sz="1800" kern="1200" dirty="0"/>
            <a:t>: The Trigger. Instantly detects high-energy events (Impacts, Seizures, CPR).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800" b="1" kern="1200" dirty="0"/>
            <a:t>Reliability</a:t>
          </a:r>
          <a:r>
            <a:rPr lang="en-IN" sz="1800" kern="1200" dirty="0"/>
            <a:t>: 98% detection rate for physical forces.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800" b="1" kern="1200" dirty="0"/>
            <a:t>Model</a:t>
          </a:r>
          <a:r>
            <a:rPr lang="en-IN" sz="1800" kern="1200" dirty="0"/>
            <a:t>: 1D-CNN (Motion Pattern Recognition).</a:t>
          </a:r>
        </a:p>
      </dsp:txBody>
      <dsp:txXfrm>
        <a:off x="0" y="962150"/>
        <a:ext cx="8657772" cy="1108484"/>
      </dsp:txXfrm>
    </dsp:sp>
    <dsp:sp modelId="{2692C0ED-8917-4E08-A720-825812FE2FD2}">
      <dsp:nvSpPr>
        <dsp:cNvPr id="0" name=""/>
        <dsp:cNvSpPr/>
      </dsp:nvSpPr>
      <dsp:spPr>
        <a:xfrm>
          <a:off x="0" y="2070635"/>
          <a:ext cx="8657772" cy="9547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000" b="1" kern="1200" dirty="0"/>
            <a:t>L2: Camera </a:t>
          </a:r>
        </a:p>
      </dsp:txBody>
      <dsp:txXfrm>
        <a:off x="46606" y="2117241"/>
        <a:ext cx="8564560" cy="861508"/>
      </dsp:txXfrm>
    </dsp:sp>
    <dsp:sp modelId="{F23A9C85-0D8A-4B8F-B841-F546C0EAF783}">
      <dsp:nvSpPr>
        <dsp:cNvPr id="0" name=""/>
        <dsp:cNvSpPr/>
      </dsp:nvSpPr>
      <dsp:spPr>
        <a:xfrm>
          <a:off x="0" y="3025355"/>
          <a:ext cx="8657772" cy="8709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4884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800" b="1" kern="1200" dirty="0"/>
            <a:t>Role</a:t>
          </a:r>
          <a:r>
            <a:rPr lang="en-IN" sz="1800" kern="1200" dirty="0"/>
            <a:t>: The Validator. Checks patient posture to confirm the sensor's story.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800" b="1" kern="1200" dirty="0"/>
            <a:t>Classes</a:t>
          </a:r>
          <a:r>
            <a:rPr lang="en-IN" sz="1800" kern="1200" dirty="0"/>
            <a:t>: SAFE (Vertical), DOWN (Horizontal), DISTRESS (Hunched).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800" b="1" kern="1200" dirty="0"/>
            <a:t>Model</a:t>
          </a:r>
          <a:r>
            <a:rPr lang="en-IN" sz="1800" kern="1200" dirty="0"/>
            <a:t>: MobileNetV3 (Vision).</a:t>
          </a:r>
        </a:p>
      </dsp:txBody>
      <dsp:txXfrm>
        <a:off x="0" y="3025355"/>
        <a:ext cx="8657772" cy="8709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List2">
  <dgm:title val=""/>
  <dgm:desc val=""/>
  <dgm:catLst>
    <dgm:cat type="list" pri="11000"/>
    <dgm:cat type="picture" pri="24000"/>
    <dgm:cat type="pictureconvert" pri="2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bkgdShp" refType="w"/>
      <dgm:constr type="h" for="ch" forName="bkgdShp" refType="h" fact="0.45"/>
      <dgm:constr type="t" for="ch" forName="bkgdShp"/>
      <dgm:constr type="w" for="ch" forName="linComp" refType="w" fact="0.94"/>
      <dgm:constr type="h" for="ch" forName="linComp" refType="h"/>
      <dgm:constr type="ctrX" for="ch" forName="linComp" refType="w" fact="0.5"/>
    </dgm:constrLst>
    <dgm:ruleLst/>
    <dgm:choose name="Name1">
      <dgm:if name="Name2" axis="ch" ptType="node" func="cnt" op="gte" val="1">
        <dgm:layoutNode name="bkgdShp" styleLbl="alignAccFollow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linComp">
          <dgm:choose name="Name3">
            <dgm:if name="Name4" func="var" arg="dir" op="equ" val="norm">
              <dgm:alg type="lin"/>
            </dgm:if>
            <dgm:else name="Name5">
              <dgm:alg type="lin">
                <dgm:param type="linDir" val="from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w" for="ch" forName="compNode" refType="w"/>
            <dgm:constr type="h" for="ch" forName="compNode" refType="h"/>
            <dgm:constr type="w" for="ch" ptType="sibTrans" refType="w" refFor="ch" refForName="compNode" fact="0.1"/>
            <dgm:constr type="h" for="ch" ptType="sibTrans" op="equ"/>
            <dgm:constr type="h" for="ch" forName="compNode" op="equ"/>
            <dgm:constr type="primFontSz" for="des" forName="node" op="equ"/>
          </dgm:constrLst>
          <dgm:ruleLst/>
          <dgm:forEach name="nodesForEach" axis="ch" ptType="node">
            <dgm:layoutNode name="compNode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node" refType="w"/>
                <dgm:constr type="h" for="ch" forName="node" refType="h" fact="0.55"/>
                <dgm:constr type="b" for="ch" forName="node" refType="h"/>
                <dgm:constr type="w" for="ch" forName="invisiNode" refType="w" fact="0.75"/>
                <dgm:constr type="h" for="ch" forName="invisiNode" refType="h" fact="0.06"/>
                <dgm:constr type="t" for="ch" forName="invisiNode"/>
                <dgm:constr type="w" for="ch" forName="imagNode" refType="w"/>
                <dgm:constr type="h" for="ch" forName="imagNode" refType="h" fact="0.33"/>
                <dgm:constr type="ctrX" for="ch" forName="imagNode" refType="w" fact="0.5"/>
                <dgm:constr type="t" for="ch" forName="imagNode" refType="h" fact="0.06"/>
              </dgm:constrLst>
              <dgm:ruleLst/>
              <dgm:layoutNode name="node" styleLbl="node1">
                <dgm:varLst>
                  <dgm:bulletEnabled val="1"/>
                </dgm:varLst>
                <dgm:alg type="tx">
                  <dgm:param type="txAnchorVert" val="t"/>
                </dgm:alg>
                <dgm:shape xmlns:r="http://schemas.openxmlformats.org/officeDocument/2006/relationships" rot="180" type="round2Same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primFontSz" val="65"/>
                </dgm:constrLst>
                <dgm:ruleLst>
                  <dgm:rule type="primFontSz" val="5" fact="NaN" max="NaN"/>
                </dgm:ruleLst>
              </dgm:layoutNode>
              <dgm:layoutNode name="invisiNode">
                <dgm:alg type="sp"/>
                <dgm:shape xmlns:r="http://schemas.openxmlformats.org/officeDocument/2006/relationships" type="roundRect" r:blip="" hideGeom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  <dgm:layoutNode name="imagNode" styleLbl="fgImgPlace1">
                <dgm:alg type="sp"/>
                <dgm:shape xmlns:r="http://schemas.openxmlformats.org/officeDocument/2006/relationships" type="roundRect" r:blip="" zOrderOff="-2" blipPhldr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</dgm:layoutNode>
            <dgm:forEach name="sibTransForEach" axis="followSib" ptType="sibTrans" cnt="1">
              <dgm:layoutNode name="sibTrans">
                <dgm:alg type="sp"/>
                <dgm:shape xmlns:r="http://schemas.openxmlformats.org/officeDocument/2006/relationships" type="rect" r:blip="" hideGeom="1">
                  <dgm:adjLst/>
                </dgm:shape>
                <dgm:presOf axis="self"/>
                <dgm:constrLst/>
                <dgm:ruleLst/>
              </dgm:layoutNode>
            </dgm:forEach>
          </dgm:forEach>
        </dgm:layoutNode>
      </dgm:if>
      <dgm:else name="Name6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86548564f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86548564fb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g386548564fb_0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86548564fb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86548564fb_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386548564fb_0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3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rotWithShape="1">
            <a:blip r:embed="rId2">
              <a:alphaModFix amt="85000"/>
            </a:blip>
            <a:tile tx="0" ty="-762000" sx="92000" sy="89000" flip="xy" algn="ctr"/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13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rotWithShape="1">
            <a:blip r:embed="rId2">
              <a:alphaModFix amt="85000"/>
            </a:blip>
            <a:tile tx="0" ty="-717550" sx="92000" sy="89000" flip="xy" algn="ctr"/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13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rotWithShape="1">
            <a:blip r:embed="rId2">
              <a:alphaModFix amt="85000"/>
            </a:blip>
            <a:tile tx="0" ty="-704850" sx="92000" sy="89000" flip="xy" algn="ctr"/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" name="Google Shape;22;p13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23" name="Google Shape;23;p13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rotWithShape="1">
              <a:blip r:embed="rId3">
                <a:alphaModFix/>
              </a:blip>
              <a:tile tx="0" ty="0" sx="85000" sy="85000" flip="none" algn="tl"/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13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25;p13"/>
          <p:cNvSpPr txBox="1"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200"/>
              <a:buFont typeface="Arial Black"/>
              <a:buNone/>
              <a:defRPr sz="72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70"/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70"/>
              <a:buNone/>
              <a:defRPr sz="22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70"/>
              <a:buNone/>
              <a:defRPr sz="22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700"/>
              <a:buNone/>
              <a:defRPr sz="2000"/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3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3"/>
          <p:cNvSpPr txBox="1">
            <a:spLocks noGrp="1"/>
          </p:cNvSpPr>
          <p:nvPr>
            <p:ph type="sldNum" idx="12"/>
          </p:nvPr>
        </p:nvSpPr>
        <p:spPr>
          <a:xfrm>
            <a:off x="9592733" y="4289334"/>
            <a:ext cx="119386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2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0" lvl="1" indent="0" algn="ctr">
              <a:spcBef>
                <a:spcPts val="0"/>
              </a:spcBef>
              <a:buNone/>
              <a:defRPr sz="2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0" lvl="2" indent="0" algn="ctr">
              <a:spcBef>
                <a:spcPts val="0"/>
              </a:spcBef>
              <a:buNone/>
              <a:defRPr sz="2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L="0" lvl="3" indent="0" algn="ctr">
              <a:spcBef>
                <a:spcPts val="0"/>
              </a:spcBef>
              <a:buNone/>
              <a:defRPr sz="2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0" lvl="4" indent="0" algn="ctr">
              <a:spcBef>
                <a:spcPts val="0"/>
              </a:spcBef>
              <a:buNone/>
              <a:defRPr sz="2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L="0" lvl="5" indent="0" algn="ctr">
              <a:spcBef>
                <a:spcPts val="0"/>
              </a:spcBef>
              <a:buNone/>
              <a:defRPr sz="2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L="0" lvl="6" indent="0" algn="ctr">
              <a:spcBef>
                <a:spcPts val="0"/>
              </a:spcBef>
              <a:buNone/>
              <a:defRPr sz="2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L="0" lvl="7" indent="0" algn="ctr">
              <a:spcBef>
                <a:spcPts val="0"/>
              </a:spcBef>
              <a:buNone/>
              <a:defRPr sz="2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L="0" lvl="8" indent="0" algn="ctr">
              <a:spcBef>
                <a:spcPts val="0"/>
              </a:spcBef>
              <a:buNone/>
              <a:defRPr sz="2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4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  <a:defRPr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2pPr>
            <a:lvl3pPr marL="1371600" lvl="2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3pPr>
            <a:lvl4pPr marL="1828800" lvl="3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4pPr>
            <a:lvl5pPr marL="2286000" lvl="4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5pPr>
            <a:lvl6pPr marL="2743200" lvl="5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6pPr>
            <a:lvl7pPr marL="3200400" lvl="6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7pPr>
            <a:lvl8pPr marL="3657600" lvl="7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8pPr>
            <a:lvl9pPr marL="4114800" lvl="8" indent="-325754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4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rotWithShape="1">
            <a:blip r:embed="rId2">
              <a:alphaModFix amt="85000"/>
            </a:blip>
            <a:tile tx="0" ty="-704850" sx="92000" sy="89000" flip="xy" algn="ctr"/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200"/>
              <a:buFont typeface="Arial Black"/>
              <a:buNone/>
              <a:defRPr sz="72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dt" idx="10"/>
          </p:nvPr>
        </p:nvSpPr>
        <p:spPr>
          <a:xfrm>
            <a:off x="8593667" y="6272784"/>
            <a:ext cx="2644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5"/>
          <p:cNvSpPr txBox="1">
            <a:spLocks noGrp="1"/>
          </p:cNvSpPr>
          <p:nvPr>
            <p:ph type="ftr" idx="11"/>
          </p:nvPr>
        </p:nvSpPr>
        <p:spPr>
          <a:xfrm>
            <a:off x="2182708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2" name="Google Shape;42;p15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43" name="Google Shape;43;p15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rotWithShape="1">
              <a:blip r:embed="rId3">
                <a:alphaModFix/>
              </a:blip>
              <a:tile tx="0" ty="0" sx="85000" sy="85000" flip="none" algn="tl"/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15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15"/>
          <p:cNvSpPr txBox="1">
            <a:spLocks noGrp="1"/>
          </p:cNvSpPr>
          <p:nvPr>
            <p:ph type="sldNum" idx="12"/>
          </p:nvPr>
        </p:nvSpPr>
        <p:spPr>
          <a:xfrm>
            <a:off x="843702" y="2506133"/>
            <a:ext cx="1188298" cy="720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2800" b="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0" lvl="1" indent="0" algn="ctr">
              <a:spcBef>
                <a:spcPts val="0"/>
              </a:spcBef>
              <a:buNone/>
              <a:defRPr sz="2800" b="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0" lvl="2" indent="0" algn="ctr">
              <a:spcBef>
                <a:spcPts val="0"/>
              </a:spcBef>
              <a:buNone/>
              <a:defRPr sz="2800" b="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L="0" lvl="3" indent="0" algn="ctr">
              <a:spcBef>
                <a:spcPts val="0"/>
              </a:spcBef>
              <a:buNone/>
              <a:defRPr sz="2800" b="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0" lvl="4" indent="0" algn="ctr">
              <a:spcBef>
                <a:spcPts val="0"/>
              </a:spcBef>
              <a:buNone/>
              <a:defRPr sz="2800" b="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L="0" lvl="5" indent="0" algn="ctr">
              <a:spcBef>
                <a:spcPts val="0"/>
              </a:spcBef>
              <a:buNone/>
              <a:defRPr sz="2800" b="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L="0" lvl="6" indent="0" algn="ctr">
              <a:spcBef>
                <a:spcPts val="0"/>
              </a:spcBef>
              <a:buNone/>
              <a:defRPr sz="2800" b="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L="0" lvl="7" indent="0" algn="ctr">
              <a:spcBef>
                <a:spcPts val="0"/>
              </a:spcBef>
              <a:buNone/>
              <a:defRPr sz="2800" b="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L="0" lvl="8" indent="0" algn="ctr">
              <a:spcBef>
                <a:spcPts val="0"/>
              </a:spcBef>
              <a:buNone/>
              <a:defRPr sz="2800" b="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6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body" idx="1"/>
          </p:nvPr>
        </p:nvSpPr>
        <p:spPr>
          <a:xfrm>
            <a:off x="1069848" y="2194560"/>
            <a:ext cx="4754880" cy="3977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65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marL="1371600" lvl="2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marL="1828800" lvl="3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marL="2286000" lvl="4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marL="2743200" lvl="5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marL="3200400" lvl="6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marL="3657600" lvl="7" indent="-31495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marL="4114800" lvl="8" indent="-314959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body" idx="2"/>
          </p:nvPr>
        </p:nvSpPr>
        <p:spPr>
          <a:xfrm>
            <a:off x="6364224" y="2194560"/>
            <a:ext cx="4754880" cy="3977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65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marL="1371600" lvl="2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marL="1828800" lvl="3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marL="2286000" lvl="4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marL="2743200" lvl="5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marL="3200400" lvl="6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marL="3657600" lvl="7" indent="-31495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marL="4114800" lvl="8" indent="-314959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>
            <a:endParaRPr/>
          </a:p>
        </p:txBody>
      </p:sp>
      <p:sp>
        <p:nvSpPr>
          <p:cNvPr id="50" name="Google Shape;50;p16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6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6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7"/>
          <p:cNvSpPr txBox="1"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  <a:defRPr sz="2000" b="1">
                <a:solidFill>
                  <a:srgbClr val="689C9B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None/>
              <a:defRPr sz="1600" b="1"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body" idx="2"/>
          </p:nvPr>
        </p:nvSpPr>
        <p:spPr>
          <a:xfrm>
            <a:off x="1069848" y="2743200"/>
            <a:ext cx="475488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65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marL="1371600" lvl="2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marL="1828800" lvl="3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marL="2286000" lvl="4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marL="2743200" lvl="5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marL="3200400" lvl="6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marL="3657600" lvl="7" indent="-31495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marL="4114800" lvl="8" indent="-314959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body" idx="3"/>
          </p:nvPr>
        </p:nvSpPr>
        <p:spPr>
          <a:xfrm>
            <a:off x="6364224" y="2048256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  <a:defRPr sz="2000" b="1">
                <a:solidFill>
                  <a:srgbClr val="689C9B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7"/>
          <p:cNvSpPr txBox="1">
            <a:spLocks noGrp="1"/>
          </p:cNvSpPr>
          <p:nvPr>
            <p:ph type="body" idx="4"/>
          </p:nvPr>
        </p:nvSpPr>
        <p:spPr>
          <a:xfrm>
            <a:off x="6364224" y="2743200"/>
            <a:ext cx="475488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65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marL="1371600" lvl="2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marL="1828800" lvl="3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marL="2286000" lvl="4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marL="2743200" lvl="5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marL="3200400" lvl="6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marL="3657600" lvl="7" indent="-31495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marL="4114800" lvl="8" indent="-314959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>
            <a:endParaRPr/>
          </a:p>
        </p:txBody>
      </p:sp>
      <p:sp>
        <p:nvSpPr>
          <p:cNvPr id="59" name="Google Shape;59;p17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7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8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8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8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8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9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9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rotWithShape="1">
            <a:blip r:embed="rId2">
              <a:alphaModFix amt="60000"/>
            </a:blip>
            <a:tile tx="0" ty="-704850" sx="92000" sy="89000" flip="xy" algn="ctr"/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Arial Black"/>
              <a:buNone/>
              <a:defRPr sz="32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body" idx="1"/>
          </p:nvPr>
        </p:nvSpPr>
        <p:spPr>
          <a:xfrm>
            <a:off x="838200" y="685800"/>
            <a:ext cx="6711696" cy="5020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65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marL="1371600" lvl="2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marL="1828800" lvl="3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marL="2286000" lvl="4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marL="2743200" lvl="5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marL="3200400" lvl="6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marL="3657600" lvl="7" indent="-31495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marL="4114800" lvl="8" indent="-314959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>
            <a:endParaRPr/>
          </a:p>
        </p:txBody>
      </p:sp>
      <p:sp>
        <p:nvSpPr>
          <p:cNvPr id="75" name="Google Shape;75;p20"/>
          <p:cNvSpPr txBox="1">
            <a:spLocks noGrp="1"/>
          </p:cNvSpPr>
          <p:nvPr>
            <p:ph type="body" idx="2"/>
          </p:nvPr>
        </p:nvSpPr>
        <p:spPr>
          <a:xfrm>
            <a:off x="8549640" y="2423160"/>
            <a:ext cx="320040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44696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2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765"/>
              <a:buNone/>
              <a:defRPr sz="900"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8" name="Google Shape;78;p20"/>
          <p:cNvGrpSpPr/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79" name="Google Shape;79;p20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3">
                <a:alphaModFix/>
              </a:blip>
              <a:tile tx="50800" ty="0" sx="85000" sy="85000" flip="none" algn="tl"/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" name="Google Shape;81;p20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1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rotWithShape="1">
            <a:blip r:embed="rId2">
              <a:alphaModFix amt="60000"/>
            </a:blip>
            <a:tile tx="0" ty="-704850" sx="92000" sy="89000" flip="xy" algn="ctr"/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Arial Black"/>
              <a:buNone/>
              <a:defRPr sz="32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>
            <a:spLocks noGrp="1"/>
          </p:cNvSpPr>
          <p:nvPr>
            <p:ph type="pic" idx="2"/>
          </p:nvPr>
        </p:nvSpPr>
        <p:spPr>
          <a:xfrm>
            <a:off x="0" y="0"/>
            <a:ext cx="8303740" cy="6858000"/>
          </a:xfrm>
          <a:prstGeom prst="rect">
            <a:avLst/>
          </a:prstGeom>
          <a:solidFill>
            <a:srgbClr val="DDD8D8"/>
          </a:solidFill>
          <a:ln>
            <a:noFill/>
          </a:ln>
        </p:spPr>
      </p:sp>
      <p:sp>
        <p:nvSpPr>
          <p:cNvPr id="86" name="Google Shape;86;p21"/>
          <p:cNvSpPr txBox="1">
            <a:spLocks noGrp="1"/>
          </p:cNvSpPr>
          <p:nvPr>
            <p:ph type="body" idx="1"/>
          </p:nvPr>
        </p:nvSpPr>
        <p:spPr>
          <a:xfrm>
            <a:off x="8549640" y="2423160"/>
            <a:ext cx="320040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44696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2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765"/>
              <a:buNone/>
              <a:defRPr sz="900"/>
            </a:lvl9pPr>
          </a:lstStyle>
          <a:p>
            <a:endParaRPr/>
          </a:p>
        </p:txBody>
      </p:sp>
      <p:sp>
        <p:nvSpPr>
          <p:cNvPr id="87" name="Google Shape;87;p21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88" name="Google Shape;88;p21"/>
          <p:cNvGrpSpPr/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9" name="Google Shape;89;p21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3">
                <a:alphaModFix/>
              </a:blip>
              <a:tile tx="50800" ty="0" sx="85000" sy="85000" flip="none" algn="tl"/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1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" name="Google Shape;91;p21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2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2"/>
          <p:cNvSpPr txBox="1">
            <a:spLocks noGrp="1"/>
          </p:cNvSpPr>
          <p:nvPr>
            <p:ph type="body" idx="1"/>
          </p:nvPr>
        </p:nvSpPr>
        <p:spPr>
          <a:xfrm rot="5400000">
            <a:off x="4073652" y="-882396"/>
            <a:ext cx="4050792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  <a:defRPr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2pPr>
            <a:lvl3pPr marL="1371600" lvl="2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3pPr>
            <a:lvl4pPr marL="1828800" lvl="3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4pPr>
            <a:lvl5pPr marL="2286000" lvl="4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5pPr>
            <a:lvl6pPr marL="2743200" lvl="5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6pPr>
            <a:lvl7pPr marL="3200400" lvl="6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7pPr>
            <a:lvl8pPr marL="3657600" lvl="7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8pPr>
            <a:lvl9pPr marL="4114800" lvl="8" indent="-325754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/>
            </a:lvl9pPr>
          </a:lstStyle>
          <a:p>
            <a:endParaRPr/>
          </a:p>
        </p:txBody>
      </p:sp>
      <p:sp>
        <p:nvSpPr>
          <p:cNvPr id="95" name="Google Shape;95;p22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2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2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3"/>
          <p:cNvSpPr txBox="1">
            <a:spLocks noGrp="1"/>
          </p:cNvSpPr>
          <p:nvPr>
            <p:ph type="title"/>
          </p:nvPr>
        </p:nvSpPr>
        <p:spPr>
          <a:xfrm rot="5400000">
            <a:off x="7181850" y="2076450"/>
            <a:ext cx="5638800" cy="25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3"/>
          <p:cNvSpPr txBox="1">
            <a:spLocks noGrp="1"/>
          </p:cNvSpPr>
          <p:nvPr>
            <p:ph type="body" idx="1"/>
          </p:nvPr>
        </p:nvSpPr>
        <p:spPr>
          <a:xfrm rot="5400000">
            <a:off x="2000250" y="-400050"/>
            <a:ext cx="5638800" cy="75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  <a:defRPr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2pPr>
            <a:lvl3pPr marL="1371600" lvl="2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3pPr>
            <a:lvl4pPr marL="1828800" lvl="3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4pPr>
            <a:lvl5pPr marL="2286000" lvl="4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5pPr>
            <a:lvl6pPr marL="2743200" lvl="5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6pPr>
            <a:lvl7pPr marL="3200400" lvl="6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7pPr>
            <a:lvl8pPr marL="3657600" lvl="7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8pPr>
            <a:lvl9pPr marL="4114800" lvl="8" indent="-325754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/>
            </a:lvl9pPr>
          </a:lstStyle>
          <a:p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3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Font typeface="Arial Black"/>
              <a:buNone/>
              <a:defRPr sz="4800" b="0" i="0" u="none" strike="noStrike" cap="none"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365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689C9B"/>
              </a:buClr>
              <a:buSzPts val="17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575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689C9B"/>
              </a:buClr>
              <a:buSzPts val="153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496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689C9B"/>
              </a:buClr>
              <a:buSzPts val="136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96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689C9B"/>
              </a:buClr>
              <a:buSzPts val="136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96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689C9B"/>
              </a:buClr>
              <a:buSzPts val="136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96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689C9B"/>
              </a:buClr>
              <a:buSzPts val="136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96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689C9B"/>
              </a:buClr>
              <a:buSzPts val="136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959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689C9B"/>
              </a:buClr>
              <a:buSzPts val="136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959" algn="l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689C9B"/>
              </a:buClr>
              <a:buSzPts val="136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14" name="Google Shape;14;p12"/>
          <p:cNvGrpSpPr/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5" name="Google Shape;15;p12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13">
                <a:alphaModFix/>
              </a:blip>
              <a:tile tx="50800" ty="0" sx="85000" sy="85000" flip="none" algn="tl"/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12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" name="Google Shape;17;p12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0" marR="0" lvl="1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0" marR="0" lvl="2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L="0" marR="0" lvl="3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0" marR="0" lvl="4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L="0" marR="0" lvl="5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L="0" marR="0" lvl="6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L="0" marR="0" lvl="7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L="0" marR="0" lvl="8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"/>
          <p:cNvSpPr txBox="1">
            <a:spLocks noGrp="1"/>
          </p:cNvSpPr>
          <p:nvPr>
            <p:ph type="ctrTitle"/>
          </p:nvPr>
        </p:nvSpPr>
        <p:spPr>
          <a:xfrm>
            <a:off x="1582846" y="1576613"/>
            <a:ext cx="10995804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200"/>
              <a:buFont typeface="Arial Black"/>
              <a:buNone/>
            </a:pPr>
            <a:r>
              <a:rPr lang="en-US"/>
              <a:t>IoMT: Internet of Medical Things</a:t>
            </a:r>
            <a:endParaRPr/>
          </a:p>
        </p:txBody>
      </p:sp>
      <p:sp>
        <p:nvSpPr>
          <p:cNvPr id="109" name="Google Shape;109;p1"/>
          <p:cNvSpPr txBox="1">
            <a:spLocks noGrp="1"/>
          </p:cNvSpPr>
          <p:nvPr>
            <p:ph type="subTitle" idx="1"/>
          </p:nvPr>
        </p:nvSpPr>
        <p:spPr>
          <a:xfrm>
            <a:off x="1870058" y="4471136"/>
            <a:ext cx="2765202" cy="1849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2000" b="1"/>
              <a:t>Team AJAS (39)</a:t>
            </a:r>
            <a:br>
              <a:rPr lang="en-US" sz="2000"/>
            </a:br>
            <a:r>
              <a:rPr lang="en-US" sz="2000" b="1"/>
              <a:t>A</a:t>
            </a:r>
            <a:r>
              <a:rPr lang="en-US" sz="2000"/>
              <a:t>akarsh Mishra</a:t>
            </a:r>
            <a:br>
              <a:rPr lang="en-US" sz="2000"/>
            </a:br>
            <a:r>
              <a:rPr lang="en-US" sz="2000" b="1"/>
              <a:t>J</a:t>
            </a:r>
            <a:r>
              <a:rPr lang="en-US" sz="2000"/>
              <a:t>oshua Koilpillai</a:t>
            </a:r>
            <a:br>
              <a:rPr lang="en-US" sz="2000"/>
            </a:br>
            <a:r>
              <a:rPr lang="en-US" sz="2000" b="1"/>
              <a:t>A</a:t>
            </a:r>
            <a:r>
              <a:rPr lang="en-US" sz="2000"/>
              <a:t>ayush Khatanhar</a:t>
            </a:r>
            <a:br>
              <a:rPr lang="en-US" sz="2000"/>
            </a:br>
            <a:r>
              <a:rPr lang="en-US" sz="2000" b="1"/>
              <a:t>S</a:t>
            </a:r>
            <a:r>
              <a:rPr lang="en-US" sz="2000"/>
              <a:t>aharsh Kallu </a:t>
            </a:r>
            <a:endParaRPr sz="2000"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sz="2000"/>
          </a:p>
        </p:txBody>
      </p:sp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5860039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</a:pPr>
            <a:r>
              <a:rPr lang="en-US" sz="4400"/>
              <a:t>Project Objective</a:t>
            </a:r>
            <a:endParaRPr/>
          </a:p>
        </p:txBody>
      </p:sp>
      <p:sp>
        <p:nvSpPr>
          <p:cNvPr id="116" name="Google Shape;116;p2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8846389" cy="237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endParaRPr sz="1800"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Nurses/doctors cannot observe every patient 24×7.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This can lead to delayed detection of critical health issues.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We aim to create an edge device with relevant sensors and a multimodal AI dashboard, to detect abnormalities and instantly alert medical staff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None/>
            </a:pPr>
            <a:endParaRPr sz="1800" dirty="0"/>
          </a:p>
        </p:txBody>
      </p:sp>
      <p:sp>
        <p:nvSpPr>
          <p:cNvPr id="117" name="Google Shape;117;p2"/>
          <p:cNvSpPr/>
          <p:nvPr/>
        </p:nvSpPr>
        <p:spPr>
          <a:xfrm>
            <a:off x="1069848" y="4032436"/>
            <a:ext cx="4261449" cy="15067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sng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AIG Hospital:</a:t>
            </a:r>
            <a:br>
              <a:rPr lang="en-US" sz="1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yearly review showed 72 post-surgery patients’ conditions deteriorated due to insufficient monitoring </a:t>
            </a:r>
            <a:endParaRPr sz="1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"/>
          <p:cNvSpPr/>
          <p:nvPr/>
        </p:nvSpPr>
        <p:spPr>
          <a:xfrm>
            <a:off x="1069847" y="5697990"/>
            <a:ext cx="4261450" cy="529087"/>
          </a:xfrm>
          <a:prstGeom prst="rect">
            <a:avLst/>
          </a:prstGeom>
          <a:solidFill>
            <a:srgbClr val="B91C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lt1"/>
                </a:solidFill>
              </a:rPr>
              <a:t>of which 6</a:t>
            </a:r>
            <a:r>
              <a:rPr lang="en-US" sz="1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cases resulted in fatalities</a:t>
            </a:r>
            <a:endParaRPr dirty="0"/>
          </a:p>
        </p:txBody>
      </p:sp>
      <p:sp>
        <p:nvSpPr>
          <p:cNvPr id="119" name="Google Shape;119;p2"/>
          <p:cNvSpPr txBox="1"/>
          <p:nvPr/>
        </p:nvSpPr>
        <p:spPr>
          <a:xfrm>
            <a:off x="6187842" y="4708186"/>
            <a:ext cx="5181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This system can reduce preventable complications and </a:t>
            </a:r>
            <a:r>
              <a:rPr lang="en-US" sz="2400" b="1" i="0" u="none" strike="noStrike" cap="none" dirty="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even save lives</a:t>
            </a:r>
            <a:r>
              <a:rPr lang="en-US" sz="2400" b="0" i="0" u="none" strike="noStrike" cap="none" dirty="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endParaRPr sz="2400" dirty="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0" name="Google Shape;120;p2"/>
          <p:cNvCxnSpPr/>
          <p:nvPr/>
        </p:nvCxnSpPr>
        <p:spPr>
          <a:xfrm rot="10800000" flipH="1">
            <a:off x="5423139" y="5210355"/>
            <a:ext cx="672861" cy="40645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push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9330674" cy="1177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</a:pPr>
            <a:r>
              <a:rPr lang="en-US" sz="4400"/>
              <a:t>Broad Project Overview</a:t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1747873" y="1999862"/>
            <a:ext cx="2438461" cy="991406"/>
          </a:xfrm>
          <a:prstGeom prst="ellipse">
            <a:avLst/>
          </a:prstGeom>
          <a:solidFill>
            <a:srgbClr val="FF0000"/>
          </a:solidFill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ECG</a:t>
            </a:r>
            <a:endParaRPr/>
          </a:p>
        </p:txBody>
      </p:sp>
      <p:sp>
        <p:nvSpPr>
          <p:cNvPr id="127" name="Google Shape;127;p3"/>
          <p:cNvSpPr/>
          <p:nvPr/>
        </p:nvSpPr>
        <p:spPr>
          <a:xfrm>
            <a:off x="4441374" y="2009194"/>
            <a:ext cx="2438461" cy="991405"/>
          </a:xfrm>
          <a:prstGeom prst="ellipse">
            <a:avLst/>
          </a:prstGeom>
          <a:solidFill>
            <a:srgbClr val="282424"/>
          </a:solidFill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ESP32-CAM</a:t>
            </a:r>
            <a:endParaRPr/>
          </a:p>
        </p:txBody>
      </p:sp>
      <p:sp>
        <p:nvSpPr>
          <p:cNvPr id="128" name="Google Shape;128;p3"/>
          <p:cNvSpPr/>
          <p:nvPr/>
        </p:nvSpPr>
        <p:spPr>
          <a:xfrm>
            <a:off x="3352799" y="3449965"/>
            <a:ext cx="1940768" cy="814873"/>
          </a:xfrm>
          <a:prstGeom prst="flowChartMagneticDisk">
            <a:avLst/>
          </a:prstGeom>
          <a:solidFill>
            <a:schemeClr val="accent1"/>
          </a:solidFill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project DB</a:t>
            </a:r>
            <a:endParaRPr/>
          </a:p>
        </p:txBody>
      </p:sp>
      <p:sp>
        <p:nvSpPr>
          <p:cNvPr id="129" name="Google Shape;129;p3"/>
          <p:cNvSpPr/>
          <p:nvPr/>
        </p:nvSpPr>
        <p:spPr>
          <a:xfrm>
            <a:off x="7682349" y="5916355"/>
            <a:ext cx="1343511" cy="659363"/>
          </a:xfrm>
          <a:prstGeom prst="flowChartMagneticDisk">
            <a:avLst/>
          </a:prstGeom>
          <a:solidFill>
            <a:srgbClr val="0070C0"/>
          </a:solidFill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online DB</a:t>
            </a:r>
            <a:endParaRPr/>
          </a:p>
        </p:txBody>
      </p:sp>
      <p:sp>
        <p:nvSpPr>
          <p:cNvPr id="130" name="Google Shape;130;p3"/>
          <p:cNvSpPr/>
          <p:nvPr/>
        </p:nvSpPr>
        <p:spPr>
          <a:xfrm>
            <a:off x="4441374" y="4814593"/>
            <a:ext cx="2438461" cy="814873"/>
          </a:xfrm>
          <a:prstGeom prst="rect">
            <a:avLst/>
          </a:prstGeom>
          <a:solidFill>
            <a:srgbClr val="282424"/>
          </a:solidFill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Gesture model</a:t>
            </a:r>
            <a:endParaRPr/>
          </a:p>
        </p:txBody>
      </p:sp>
      <p:sp>
        <p:nvSpPr>
          <p:cNvPr id="131" name="Google Shape;131;p3"/>
          <p:cNvSpPr/>
          <p:nvPr/>
        </p:nvSpPr>
        <p:spPr>
          <a:xfrm>
            <a:off x="7134875" y="2043406"/>
            <a:ext cx="2438461" cy="991406"/>
          </a:xfrm>
          <a:prstGeom prst="ellipse">
            <a:avLst/>
          </a:prstGeom>
          <a:solidFill>
            <a:srgbClr val="00B0F0"/>
          </a:solidFill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accelerometer</a:t>
            </a:r>
            <a:endParaRPr/>
          </a:p>
        </p:txBody>
      </p:sp>
      <p:sp>
        <p:nvSpPr>
          <p:cNvPr id="132" name="Google Shape;132;p3"/>
          <p:cNvSpPr/>
          <p:nvPr/>
        </p:nvSpPr>
        <p:spPr>
          <a:xfrm>
            <a:off x="7134875" y="4814592"/>
            <a:ext cx="2438461" cy="814873"/>
          </a:xfrm>
          <a:prstGeom prst="rect">
            <a:avLst/>
          </a:prstGeom>
          <a:solidFill>
            <a:srgbClr val="0070C0"/>
          </a:solidFill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EHR-based model</a:t>
            </a:r>
            <a:endParaRPr/>
          </a:p>
        </p:txBody>
      </p:sp>
      <p:sp>
        <p:nvSpPr>
          <p:cNvPr id="133" name="Google Shape;133;p3"/>
          <p:cNvSpPr/>
          <p:nvPr/>
        </p:nvSpPr>
        <p:spPr>
          <a:xfrm>
            <a:off x="1747872" y="4814593"/>
            <a:ext cx="2438461" cy="814873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Arrhythmia model</a:t>
            </a:r>
            <a:endParaRPr/>
          </a:p>
        </p:txBody>
      </p:sp>
      <p:cxnSp>
        <p:nvCxnSpPr>
          <p:cNvPr id="134" name="Google Shape;134;p3"/>
          <p:cNvCxnSpPr/>
          <p:nvPr/>
        </p:nvCxnSpPr>
        <p:spPr>
          <a:xfrm>
            <a:off x="3153716" y="3012233"/>
            <a:ext cx="665614" cy="41676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5" name="Google Shape;135;p3"/>
          <p:cNvCxnSpPr/>
          <p:nvPr/>
        </p:nvCxnSpPr>
        <p:spPr>
          <a:xfrm flipH="1">
            <a:off x="3396311" y="4287358"/>
            <a:ext cx="457169" cy="52991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6" name="Google Shape;136;p3"/>
          <p:cNvCxnSpPr/>
          <p:nvPr/>
        </p:nvCxnSpPr>
        <p:spPr>
          <a:xfrm>
            <a:off x="4526857" y="4285803"/>
            <a:ext cx="418431" cy="52878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7" name="Google Shape;137;p3"/>
          <p:cNvCxnSpPr/>
          <p:nvPr/>
        </p:nvCxnSpPr>
        <p:spPr>
          <a:xfrm flipH="1">
            <a:off x="4642058" y="3034812"/>
            <a:ext cx="651509" cy="37293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8" name="Google Shape;138;p3"/>
          <p:cNvCxnSpPr>
            <a:stCxn id="132" idx="2"/>
            <a:endCxn id="129" idx="1"/>
          </p:cNvCxnSpPr>
          <p:nvPr/>
        </p:nvCxnSpPr>
        <p:spPr>
          <a:xfrm>
            <a:off x="8354106" y="5629465"/>
            <a:ext cx="0" cy="286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0" name="Google Shape;140;p3"/>
          <p:cNvCxnSpPr>
            <a:cxnSpLocks/>
          </p:cNvCxnSpPr>
          <p:nvPr/>
        </p:nvCxnSpPr>
        <p:spPr>
          <a:xfrm>
            <a:off x="8361363" y="3042069"/>
            <a:ext cx="0" cy="372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1" name="Google Shape;141;p3"/>
          <p:cNvSpPr txBox="1"/>
          <p:nvPr/>
        </p:nvSpPr>
        <p:spPr>
          <a:xfrm>
            <a:off x="311020" y="2295331"/>
            <a:ext cx="12876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Sensors:</a:t>
            </a:r>
            <a:endParaRPr/>
          </a:p>
        </p:txBody>
      </p:sp>
      <p:sp>
        <p:nvSpPr>
          <p:cNvPr id="142" name="Google Shape;142;p3"/>
          <p:cNvSpPr txBox="1"/>
          <p:nvPr/>
        </p:nvSpPr>
        <p:spPr>
          <a:xfrm>
            <a:off x="211496" y="5001208"/>
            <a:ext cx="138714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 models:</a:t>
            </a:r>
            <a:endParaRPr dirty="0"/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5B8D9-ABCA-0619-0318-0C97A3A2B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3800" y="304716"/>
            <a:ext cx="1854200" cy="167217"/>
          </a:xfrm>
        </p:spPr>
        <p:txBody>
          <a:bodyPr>
            <a:noAutofit/>
          </a:bodyPr>
          <a:lstStyle/>
          <a:p>
            <a:r>
              <a:rPr lang="en-IN" sz="2400" dirty="0"/>
              <a:t>SENSORS</a:t>
            </a:r>
            <a:endParaRPr lang="en-IN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2DBC0AB-D236-EAC6-F8D3-0FEC60C10C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8012887"/>
              </p:ext>
            </p:extLst>
          </p:nvPr>
        </p:nvGraphicFramePr>
        <p:xfrm>
          <a:off x="1022350" y="700701"/>
          <a:ext cx="9810750" cy="58525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24203525"/>
      </p:ext>
    </p:extLst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2502D-9800-D22B-FD58-D474940B2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DATA FLOW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DBDEB10-2DEC-4547-505B-19F0DABFD6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35004483"/>
              </p:ext>
            </p:extLst>
          </p:nvPr>
        </p:nvGraphicFramePr>
        <p:xfrm>
          <a:off x="485775" y="1644650"/>
          <a:ext cx="11220450" cy="22986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BA5B14E-ACAC-95FC-A2C9-2ED81B0B3865}"/>
              </a:ext>
            </a:extLst>
          </p:cNvPr>
          <p:cNvSpPr txBox="1"/>
          <p:nvPr/>
        </p:nvSpPr>
        <p:spPr>
          <a:xfrm>
            <a:off x="1428750" y="3567562"/>
            <a:ext cx="9296400" cy="307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90000"/>
              </a:lnSpc>
              <a:buSzPts val="1700"/>
            </a:pPr>
            <a:r>
              <a:rPr lang="en-US" sz="1600" b="1" dirty="0"/>
              <a:t>MQTT Server:</a:t>
            </a:r>
            <a:endParaRPr lang="en-US" sz="1600" dirty="0"/>
          </a:p>
          <a:p>
            <a:pPr lvl="0">
              <a:lnSpc>
                <a:spcPct val="90000"/>
              </a:lnSpc>
              <a:spcBef>
                <a:spcPts val="1200"/>
              </a:spcBef>
              <a:buSzPts val="1700"/>
            </a:pPr>
            <a:r>
              <a:rPr lang="en-US" sz="1600" dirty="0"/>
              <a:t>We use an </a:t>
            </a:r>
            <a:r>
              <a:rPr lang="en-US" sz="1600" dirty="0" err="1"/>
              <a:t>mqtt</a:t>
            </a:r>
            <a:r>
              <a:rPr lang="en-US" sz="1600" dirty="0"/>
              <a:t> server to collect and publish data from our sensors running on Arduino code. The data is published to a single topic in a format similar to JSON.</a:t>
            </a:r>
          </a:p>
          <a:p>
            <a:pPr lvl="0">
              <a:lnSpc>
                <a:spcPct val="90000"/>
              </a:lnSpc>
              <a:spcBef>
                <a:spcPts val="1200"/>
              </a:spcBef>
              <a:buSzPts val="1700"/>
            </a:pPr>
            <a:r>
              <a:rPr lang="en-US" sz="1600" b="1" dirty="0" err="1"/>
              <a:t>Telegraf</a:t>
            </a:r>
            <a:r>
              <a:rPr lang="en-US" sz="1600" b="1" dirty="0"/>
              <a:t> (</a:t>
            </a:r>
            <a:r>
              <a:rPr lang="en-US" sz="1600" dirty="0"/>
              <a:t>Subscriber Node</a:t>
            </a:r>
            <a:r>
              <a:rPr lang="en-US" sz="1600" b="1" dirty="0"/>
              <a:t>):</a:t>
            </a:r>
            <a:endParaRPr lang="en-US" sz="1600" dirty="0"/>
          </a:p>
          <a:p>
            <a:pPr lvl="0">
              <a:lnSpc>
                <a:spcPct val="90000"/>
              </a:lnSpc>
              <a:spcBef>
                <a:spcPts val="1200"/>
              </a:spcBef>
              <a:buSzPts val="1700"/>
            </a:pPr>
            <a:r>
              <a:rPr lang="en-US" sz="1600" dirty="0" err="1"/>
              <a:t>Telegraf</a:t>
            </a:r>
            <a:r>
              <a:rPr lang="en-US" sz="1600" dirty="0"/>
              <a:t> is a subscriber application that collects the data from our </a:t>
            </a:r>
            <a:r>
              <a:rPr lang="en-US" sz="1600" dirty="0" err="1"/>
              <a:t>mqtt</a:t>
            </a:r>
            <a:r>
              <a:rPr lang="en-US" sz="1600" dirty="0"/>
              <a:t> server by subscribing to the topic given to it, formats it, and writes the data into our </a:t>
            </a:r>
            <a:r>
              <a:rPr lang="en-US" sz="1600" dirty="0" err="1"/>
              <a:t>InfluxDB</a:t>
            </a:r>
            <a:r>
              <a:rPr lang="en-US" sz="1600" dirty="0"/>
              <a:t> database.</a:t>
            </a:r>
          </a:p>
          <a:p>
            <a:pPr lvl="0">
              <a:lnSpc>
                <a:spcPct val="90000"/>
              </a:lnSpc>
              <a:spcBef>
                <a:spcPts val="1200"/>
              </a:spcBef>
              <a:buSzPts val="1700"/>
            </a:pPr>
            <a:r>
              <a:rPr lang="en-US" sz="1600" b="1" dirty="0" err="1"/>
              <a:t>InfluxDB</a:t>
            </a:r>
            <a:r>
              <a:rPr lang="en-US" sz="1600" b="1" dirty="0"/>
              <a:t>:</a:t>
            </a:r>
            <a:endParaRPr lang="en-US" sz="1600" dirty="0"/>
          </a:p>
          <a:p>
            <a:pPr lvl="0">
              <a:lnSpc>
                <a:spcPct val="90000"/>
              </a:lnSpc>
              <a:spcBef>
                <a:spcPts val="1200"/>
              </a:spcBef>
              <a:buSzPts val="1700"/>
            </a:pPr>
            <a:r>
              <a:rPr lang="en-US" sz="1600" dirty="0" err="1"/>
              <a:t>InfluxDB</a:t>
            </a:r>
            <a:r>
              <a:rPr lang="en-US" sz="1600" dirty="0"/>
              <a:t> is our database for storing data in an easily processible and viewable manner, and makes the data available to our dashboard and training/processing for our AI models.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8515392"/>
      </p:ext>
    </p:extLst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Font typeface="Arial Black"/>
              <a:buNone/>
            </a:pPr>
            <a:r>
              <a:rPr lang="en-US" dirty="0"/>
              <a:t>Arrhythmia modality</a:t>
            </a:r>
            <a:endParaRPr dirty="0"/>
          </a:p>
        </p:txBody>
      </p:sp>
      <p:sp>
        <p:nvSpPr>
          <p:cNvPr id="162" name="Google Shape;162;p6"/>
          <p:cNvSpPr txBox="1">
            <a:spLocks noGrp="1"/>
          </p:cNvSpPr>
          <p:nvPr>
            <p:ph type="body" idx="1"/>
          </p:nvPr>
        </p:nvSpPr>
        <p:spPr>
          <a:xfrm>
            <a:off x="1069850" y="2121400"/>
            <a:ext cx="10105500" cy="40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900" b="1" u="sng" dirty="0"/>
              <a:t>Specs: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lang="en-US" sz="1900" dirty="0"/>
          </a:p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sz="1900" dirty="0"/>
              <a:t>The model is a 3D-CNN with conv1D layers (32-&gt;64-&gt;128) filters with batch normalization and dropout. </a:t>
            </a:r>
            <a:endParaRPr sz="1900" dirty="0"/>
          </a:p>
          <a:p>
            <a:pPr marL="182880" lvl="0" indent="-17208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 sz="1900" dirty="0"/>
              <a:t>140k+ parameters.</a:t>
            </a:r>
            <a:endParaRPr sz="1900" dirty="0"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US" sz="1900" b="1" u="sng" dirty="0"/>
              <a:t>Training:</a:t>
            </a:r>
          </a:p>
          <a:p>
            <a:pPr marL="342900" indent="-342900">
              <a:buSzPts val="1700"/>
            </a:pPr>
            <a:r>
              <a:rPr lang="en-US" sz="1900" dirty="0"/>
              <a:t>Model was trained on online data + our samples.</a:t>
            </a:r>
          </a:p>
          <a:p>
            <a:pPr marL="285750" indent="-285750">
              <a:buSzPts val="1700"/>
            </a:pPr>
            <a:r>
              <a:rPr lang="en-US" sz="1900" dirty="0"/>
              <a:t>Simulated arrhythmia with strenuous exercise: jumping jacks, high knees</a:t>
            </a:r>
          </a:p>
          <a:p>
            <a:pPr marL="342900" indent="-342900">
              <a:buSzPts val="1700"/>
            </a:pPr>
            <a:r>
              <a:rPr lang="en-US" sz="1900" dirty="0"/>
              <a:t>Class-balanced weighting for imbalanced data and early stopping if validation AUC does not improve for 3 epochs in a row.</a:t>
            </a:r>
          </a:p>
          <a:p>
            <a:pPr marL="342900" indent="-342900">
              <a:buSzPts val="1700"/>
            </a:pPr>
            <a:r>
              <a:rPr lang="en-US" sz="1900" dirty="0"/>
              <a:t>70/15/15 train/</a:t>
            </a:r>
            <a:r>
              <a:rPr lang="en-US" sz="1900" dirty="0" err="1"/>
              <a:t>val</a:t>
            </a:r>
            <a:r>
              <a:rPr lang="en-US" sz="1900" dirty="0"/>
              <a:t>/test split.</a:t>
            </a:r>
          </a:p>
          <a:p>
            <a:pPr marL="342900" indent="-342900">
              <a:buSzPts val="1700"/>
            </a:pPr>
            <a:r>
              <a:rPr lang="en-US" sz="1900" dirty="0"/>
              <a:t>At epoch 1: ~70% </a:t>
            </a:r>
            <a:r>
              <a:rPr lang="en-US" sz="1900" dirty="0" err="1"/>
              <a:t>val_auc</a:t>
            </a:r>
            <a:r>
              <a:rPr lang="en-US" sz="1900" dirty="0"/>
              <a:t>, final epoch: ~90%val_auc and the testing data gave </a:t>
            </a:r>
            <a:r>
              <a:rPr lang="en-US" sz="1900" dirty="0" err="1"/>
              <a:t>auc</a:t>
            </a:r>
            <a:r>
              <a:rPr lang="en-US" sz="1900" dirty="0"/>
              <a:t> of 93%</a:t>
            </a:r>
          </a:p>
          <a:p>
            <a:pPr marL="457200" lvl="1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endParaRPr sz="2000" dirty="0"/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g386548564fb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725" y="836200"/>
            <a:ext cx="5240824" cy="4650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g386548564fb_0_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45175" y="987450"/>
            <a:ext cx="5459825" cy="4428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g386548564fb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675" y="1172350"/>
            <a:ext cx="5592775" cy="4743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g386548564fb_0_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44475" y="1505000"/>
            <a:ext cx="4942049" cy="386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Font typeface="Arial Black"/>
              <a:buNone/>
            </a:pPr>
            <a:r>
              <a:rPr lang="en-US" dirty="0"/>
              <a:t>EHR modality</a:t>
            </a:r>
            <a:endParaRPr dirty="0"/>
          </a:p>
        </p:txBody>
      </p:sp>
      <p:sp>
        <p:nvSpPr>
          <p:cNvPr id="202" name="Google Shape;202;p10"/>
          <p:cNvSpPr txBox="1"/>
          <p:nvPr/>
        </p:nvSpPr>
        <p:spPr>
          <a:xfrm>
            <a:off x="1069847" y="1752601"/>
            <a:ext cx="10058399" cy="4931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indent="0">
              <a:buNone/>
            </a:pPr>
            <a:r>
              <a:rPr lang="en-US" sz="1800" dirty="0"/>
              <a:t>We built a multi-task neural network that analyzes over 130 patient features (vitals, labs, and history) to predict 51 different conditions across 3 timeframes (6h, 24h, 48h), for a total of </a:t>
            </a:r>
            <a:r>
              <a:rPr lang="en-US" sz="1800" b="1" dirty="0"/>
              <a:t>153 risk scores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1800" b="1" dirty="0"/>
              <a:t>Data Source:</a:t>
            </a:r>
            <a:r>
              <a:rPr lang="en-US" sz="1800" dirty="0"/>
              <a:t> We processed </a:t>
            </a:r>
            <a:r>
              <a:rPr lang="en-US" sz="1800" b="1" dirty="0"/>
              <a:t>10 million+</a:t>
            </a:r>
            <a:r>
              <a:rPr lang="en-US" sz="1800" dirty="0"/>
              <a:t> individual records from raw patient files (FHIR JSONs), which included demographics, lab results, medications, and diagnoses.</a:t>
            </a:r>
            <a:endParaRPr lang="en-IN" sz="1800" dirty="0"/>
          </a:p>
          <a:p>
            <a:endParaRPr lang="en-IN" sz="1800" b="1" dirty="0"/>
          </a:p>
          <a:p>
            <a:r>
              <a:rPr lang="en-IN" sz="1800" b="1" dirty="0"/>
              <a:t>Training: 	</a:t>
            </a:r>
          </a:p>
          <a:p>
            <a:pPr marL="285750" lvl="3" indent="-285750">
              <a:buFont typeface="Arial" panose="020B0604020202020204" pitchFamily="34" charset="0"/>
              <a:buChar char="•"/>
            </a:pPr>
            <a:r>
              <a:rPr lang="en-US" sz="1800" b="1" dirty="0"/>
              <a:t>Parse &amp; Clean:</a:t>
            </a:r>
            <a:r>
              <a:rPr lang="en-US" sz="1800" dirty="0"/>
              <a:t> We used parallel processing to read millions of raw JSON files, extract the 130+ key features, and save them as clean, efficient Parquet files.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800" b="1" dirty="0"/>
              <a:t>Engineer Features:</a:t>
            </a:r>
            <a:r>
              <a:rPr lang="en-US" sz="1800" dirty="0"/>
              <a:t> We read the clean data in chunks and engineered new features, such as 3-hour rolling averages, delta_ values (changes over time), and the 153 "risk" labels and we fed this final data into our neural network to train it.</a:t>
            </a:r>
          </a:p>
          <a:p>
            <a:pPr lvl="1"/>
            <a:endParaRPr lang="en-US" sz="1800" dirty="0"/>
          </a:p>
          <a:p>
            <a:r>
              <a:rPr lang="en-US" sz="1700" dirty="0"/>
              <a:t>Our model is a </a:t>
            </a:r>
            <a:r>
              <a:rPr lang="en-US" sz="1700" b="1" dirty="0"/>
              <a:t>Multi-Task Network</a:t>
            </a:r>
            <a:r>
              <a:rPr lang="en-US" sz="17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/>
              <a:t>The Shared Body: </a:t>
            </a:r>
            <a:r>
              <a:rPr lang="en-US" sz="1500" dirty="0"/>
              <a:t>This is a set of deep layers (</a:t>
            </a:r>
            <a:r>
              <a:rPr lang="en-US" sz="1200" dirty="0"/>
              <a:t>Dense(64) -&gt; Dense(32)</a:t>
            </a:r>
            <a:r>
              <a:rPr lang="en-US" sz="1500" dirty="0"/>
              <a:t>) that learns the complex, general patterns of "sickness" from all 131 inputs.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/>
              <a:t>The Output Heads: </a:t>
            </a:r>
            <a:r>
              <a:rPr lang="en-US" sz="1500" dirty="0"/>
              <a:t>We have </a:t>
            </a:r>
            <a:r>
              <a:rPr lang="en-US" sz="1500" b="1" dirty="0"/>
              <a:t>153 tiny, separate output layers</a:t>
            </a:r>
            <a:r>
              <a:rPr lang="en-US" sz="1500" dirty="0"/>
              <a:t> (one for each risk). Each head looks at the shared body's analysis and makes a simple "yes/no" decision for its one specific condition.</a:t>
            </a:r>
          </a:p>
          <a:p>
            <a:pPr marL="182880" marR="0" lvl="0" indent="-74929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689C9B"/>
              </a:buClr>
              <a:buSzPts val="1700"/>
              <a:buFont typeface="Noto Sans Symbols"/>
              <a:buNone/>
            </a:pP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" marR="0" lvl="0" indent="-74929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689C9B"/>
              </a:buClr>
              <a:buSzPts val="1700"/>
              <a:buFont typeface="Noto Sans Symbols"/>
              <a:buNone/>
            </a:pP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81967-A78B-D6D8-D82D-F5C7EFD58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267" y="129032"/>
            <a:ext cx="7631466" cy="1609344"/>
          </a:xfrm>
        </p:spPr>
        <p:txBody>
          <a:bodyPr>
            <a:normAutofit/>
          </a:bodyPr>
          <a:lstStyle/>
          <a:p>
            <a:r>
              <a:rPr lang="en-IN" sz="4400" dirty="0"/>
              <a:t>Gesture </a:t>
            </a:r>
            <a:r>
              <a:rPr lang="en-IN" sz="4400" dirty="0" err="1"/>
              <a:t>Recog</a:t>
            </a:r>
            <a:r>
              <a:rPr lang="en-IN" sz="4400" dirty="0"/>
              <a:t> Modality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314C18-714D-0AA7-AA35-A0F1EC69A8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2418" y="1475522"/>
            <a:ext cx="9779581" cy="4910764"/>
          </a:xfrm>
        </p:spPr>
        <p:txBody>
          <a:bodyPr>
            <a:normAutofit/>
          </a:bodyPr>
          <a:lstStyle/>
          <a:p>
            <a:pPr marL="131445" indent="0">
              <a:buNone/>
            </a:pPr>
            <a:r>
              <a:rPr lang="en-US" b="1" dirty="0"/>
              <a:t>Problems in patients room:</a:t>
            </a:r>
          </a:p>
          <a:p>
            <a:pPr marL="588645" indent="-457200">
              <a:buAutoNum type="arabicPeriod"/>
            </a:pPr>
            <a:r>
              <a:rPr lang="en-US" dirty="0"/>
              <a:t>Bed Alarms go off when patient shifts weight (False Positives).</a:t>
            </a:r>
          </a:p>
          <a:p>
            <a:pPr marL="588645" indent="-457200">
              <a:buAutoNum type="arabicPeriod"/>
            </a:pPr>
            <a:r>
              <a:rPr lang="en-US" dirty="0"/>
              <a:t>Fall Detectors trigger when items dropped on the floor (False Positives).</a:t>
            </a:r>
          </a:p>
          <a:p>
            <a:pPr marL="588645" indent="-457200">
              <a:buAutoNum type="arabicPeriod"/>
            </a:pPr>
            <a:r>
              <a:rPr lang="en-US" dirty="0"/>
              <a:t>Cameras require constant monitoring from nurses.</a:t>
            </a:r>
          </a:p>
          <a:p>
            <a:pPr marL="131445" indent="0">
              <a:buNone/>
            </a:pPr>
            <a:endParaRPr lang="en-US" dirty="0"/>
          </a:p>
          <a:p>
            <a:pPr marL="131445" indent="0">
              <a:buNone/>
            </a:pPr>
            <a:r>
              <a:rPr lang="en-US" b="1" dirty="0"/>
              <a:t>Solution: </a:t>
            </a:r>
            <a:r>
              <a:rPr lang="en-US" dirty="0"/>
              <a:t>An</a:t>
            </a:r>
            <a:r>
              <a:rPr lang="en-US" b="1" dirty="0"/>
              <a:t> </a:t>
            </a:r>
            <a:r>
              <a:rPr lang="en-US" dirty="0"/>
              <a:t>Autonomous Triage Agent that lives in the patient's room. It doesn't just "sense" motion; it validates it before bothering the nurse.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728906"/>
      </p:ext>
    </p:extLst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D16DA-9DF6-AA73-1A2E-FB788B1A8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945025"/>
          </a:xfrm>
        </p:spPr>
        <p:txBody>
          <a:bodyPr/>
          <a:lstStyle/>
          <a:p>
            <a:r>
              <a:rPr lang="en-IN" dirty="0"/>
              <a:t>Gesture </a:t>
            </a:r>
            <a:r>
              <a:rPr lang="en-IN" dirty="0" err="1"/>
              <a:t>Recog</a:t>
            </a:r>
            <a:r>
              <a:rPr lang="en-IN" dirty="0"/>
              <a:t>: Architecture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C57386E-30A9-2030-A946-E8392408B4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2680123"/>
              </p:ext>
            </p:extLst>
          </p:nvPr>
        </p:nvGraphicFramePr>
        <p:xfrm>
          <a:off x="1574799" y="1495575"/>
          <a:ext cx="8657772" cy="39037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12F5B44-9F45-02A1-23B3-9CC67171B49B}"/>
              </a:ext>
            </a:extLst>
          </p:cNvPr>
          <p:cNvSpPr txBox="1"/>
          <p:nvPr/>
        </p:nvSpPr>
        <p:spPr>
          <a:xfrm>
            <a:off x="2177143" y="5713198"/>
            <a:ext cx="764902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31445" indent="0">
              <a:buNone/>
            </a:pPr>
            <a:r>
              <a:rPr lang="en-US" sz="1800" b="1" dirty="0"/>
              <a:t>The system makes decisions based on a Weighted Fusion Score </a:t>
            </a:r>
          </a:p>
          <a:p>
            <a:pPr marL="131445" indent="0">
              <a:buNone/>
            </a:pPr>
            <a:r>
              <a:rPr lang="en-US" sz="1800" b="1" dirty="0">
                <a:highlight>
                  <a:srgbClr val="FFFF00"/>
                </a:highlight>
              </a:rPr>
              <a:t>Final Score = Medical Risk + Physical Event + Visual Confirmation</a:t>
            </a:r>
            <a:endParaRPr lang="en-IN" sz="1800" b="1" dirty="0">
              <a:highlight>
                <a:srgbClr val="FFFF00"/>
              </a:highlight>
            </a:endParaRP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269770518"/>
      </p:ext>
    </p:extLst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4F7D-00DB-B812-6327-FDF49F95E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2857" y="-386225"/>
            <a:ext cx="6843486" cy="1609344"/>
          </a:xfrm>
        </p:spPr>
        <p:txBody>
          <a:bodyPr>
            <a:normAutofit/>
          </a:bodyPr>
          <a:lstStyle/>
          <a:p>
            <a:pPr algn="ctr"/>
            <a:r>
              <a:rPr lang="en-IN" sz="2800" dirty="0"/>
              <a:t>Gesture </a:t>
            </a:r>
            <a:r>
              <a:rPr lang="en-IN" sz="2800" dirty="0" err="1"/>
              <a:t>Recog</a:t>
            </a:r>
            <a:r>
              <a:rPr lang="en-IN" sz="2800" dirty="0"/>
              <a:t>: Training + Testing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5B3188-89EC-9A33-C995-A8A9566A30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989" t="5375" r="7297"/>
          <a:stretch>
            <a:fillRect/>
          </a:stretch>
        </p:blipFill>
        <p:spPr>
          <a:xfrm>
            <a:off x="2902857" y="3744685"/>
            <a:ext cx="6052455" cy="27840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F9F762-E92A-EBFF-184D-845CA2A43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5657" y="849087"/>
            <a:ext cx="6681648" cy="2784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957132"/>
      </p:ext>
    </p:extLst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BFA40-7C5C-E503-24A3-34E5FFBEF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3676323" cy="1609344"/>
          </a:xfrm>
        </p:spPr>
        <p:txBody>
          <a:bodyPr/>
          <a:lstStyle/>
          <a:p>
            <a:r>
              <a:rPr lang="en-IN" dirty="0"/>
              <a:t>Data Collection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5B3314-C16F-C3ED-9B0B-6BFA51994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0" y="157843"/>
            <a:ext cx="6542314" cy="6542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389782"/>
      </p:ext>
    </p:extLst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"/>
          <p:cNvSpPr txBox="1">
            <a:spLocks noGrp="1"/>
          </p:cNvSpPr>
          <p:nvPr>
            <p:ph type="title"/>
          </p:nvPr>
        </p:nvSpPr>
        <p:spPr>
          <a:xfrm>
            <a:off x="776549" y="512064"/>
            <a:ext cx="109231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</a:pPr>
            <a:r>
              <a:rPr lang="en-US" sz="4400"/>
              <a:t>Challenges Faced </a:t>
            </a:r>
            <a:endParaRPr/>
          </a:p>
        </p:txBody>
      </p:sp>
      <p:sp>
        <p:nvSpPr>
          <p:cNvPr id="208" name="Google Shape;208;p11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2575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Initially, we faced the issue that the AI models were not learning but simply overfitting or making random guesses. We fixed this by balancing class weights and using </a:t>
            </a:r>
            <a:r>
              <a:rPr lang="en-US" dirty="0" err="1"/>
              <a:t>auc</a:t>
            </a:r>
            <a:r>
              <a:rPr lang="en-US" dirty="0"/>
              <a:t> as a metric.</a:t>
            </a:r>
            <a:endParaRPr dirty="0"/>
          </a:p>
          <a:p>
            <a:pPr marL="457200" lvl="0" indent="-32575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Also faced the issue that sensor readings were extremely inconsistent and inaccurate. Fixed by reading sensor documentation and rigorous calibration.</a:t>
            </a:r>
          </a:p>
          <a:p>
            <a:r>
              <a:rPr lang="en-US" dirty="0"/>
              <a:t>The 10M+ row dataset was for the EHR modality was too big to fit in RAM. We fixed this by using a streaming </a:t>
            </a:r>
            <a:r>
              <a:rPr lang="en-US" dirty="0" err="1"/>
              <a:t>data_generator</a:t>
            </a:r>
            <a:r>
              <a:rPr lang="en-US" dirty="0"/>
              <a:t> and </a:t>
            </a:r>
            <a:r>
              <a:rPr lang="en-US" dirty="0" err="1"/>
              <a:t>tf.data</a:t>
            </a:r>
            <a:r>
              <a:rPr lang="en-US" dirty="0"/>
              <a:t> Dataset. This feeds the model small batches (like BATCH_SIZE=8) directly from the hard drive without ever loading the whole dataset.</a:t>
            </a:r>
          </a:p>
          <a:p>
            <a:r>
              <a:rPr lang="en-US" dirty="0"/>
              <a:t>Training models on our samples was difficult due to the comparative low accuracy and precision of our sensors in comparison to medical grade ones.</a:t>
            </a:r>
          </a:p>
          <a:p>
            <a:endParaRPr lang="en-US" dirty="0"/>
          </a:p>
          <a:p>
            <a:pPr marL="457200" lvl="0" indent="-32575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30"/>
              <a:buChar char="▪"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Wood Type">
  <a:themeElements>
    <a:clrScheme name="Wood Type">
      <a:dk1>
        <a:srgbClr val="000000"/>
      </a:dk1>
      <a:lt1>
        <a:srgbClr val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</TotalTime>
  <Words>1041</Words>
  <Application>Microsoft Office PowerPoint</Application>
  <PresentationFormat>Widescreen</PresentationFormat>
  <Paragraphs>101</Paragraphs>
  <Slides>14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 Black</vt:lpstr>
      <vt:lpstr>Noto Sans Symbols</vt:lpstr>
      <vt:lpstr>Calibri</vt:lpstr>
      <vt:lpstr>Arial</vt:lpstr>
      <vt:lpstr>Wood Type</vt:lpstr>
      <vt:lpstr>IoMT: Internet of Medical Things</vt:lpstr>
      <vt:lpstr>Project Objective</vt:lpstr>
      <vt:lpstr>Broad Project Overview</vt:lpstr>
      <vt:lpstr>SENSORS</vt:lpstr>
      <vt:lpstr>DATA FLOW</vt:lpstr>
      <vt:lpstr>Arrhythmia modality</vt:lpstr>
      <vt:lpstr>PowerPoint Presentation</vt:lpstr>
      <vt:lpstr>PowerPoint Presentation</vt:lpstr>
      <vt:lpstr>EHR modality</vt:lpstr>
      <vt:lpstr>Gesture Recog Modality</vt:lpstr>
      <vt:lpstr>Gesture Recog: Architecture</vt:lpstr>
      <vt:lpstr>Gesture Recog: Training + Testing</vt:lpstr>
      <vt:lpstr>Data Collection</vt:lpstr>
      <vt:lpstr>Challenges Faced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Aakarsh Mishra</dc:creator>
  <cp:lastModifiedBy>Aakarsh Mishra</cp:lastModifiedBy>
  <cp:revision>3</cp:revision>
  <dcterms:created xsi:type="dcterms:W3CDTF">2025-11-15T18:57:56Z</dcterms:created>
  <dcterms:modified xsi:type="dcterms:W3CDTF">2025-12-03T03:47:04Z</dcterms:modified>
</cp:coreProperties>
</file>